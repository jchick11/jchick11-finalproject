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D19827-93C4-9516-AFFB-191C7F73F560}" v="2332" dt="2025-12-08T16:22:23.7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de Hickson" userId="S::hicksonc@queens.edu::4f0eba62-54fc-43df-b038-02c155e337b1" providerId="AD" clId="Web-{4FD19827-93C4-9516-AFFB-191C7F73F560}"/>
    <pc:docChg chg="addSld modSld">
      <pc:chgData name="Cade Hickson" userId="S::hicksonc@queens.edu::4f0eba62-54fc-43df-b038-02c155e337b1" providerId="AD" clId="Web-{4FD19827-93C4-9516-AFFB-191C7F73F560}" dt="2025-12-08T16:22:23.755" v="1296" actId="1076"/>
      <pc:docMkLst>
        <pc:docMk/>
      </pc:docMkLst>
      <pc:sldChg chg="addSp delSp modSp">
        <pc:chgData name="Cade Hickson" userId="S::hicksonc@queens.edu::4f0eba62-54fc-43df-b038-02c155e337b1" providerId="AD" clId="Web-{4FD19827-93C4-9516-AFFB-191C7F73F560}" dt="2025-12-08T15:56:41.567" v="47" actId="1076"/>
        <pc:sldMkLst>
          <pc:docMk/>
          <pc:sldMk cId="109857222" sldId="256"/>
        </pc:sldMkLst>
        <pc:spChg chg="del">
          <ac:chgData name="Cade Hickson" userId="S::hicksonc@queens.edu::4f0eba62-54fc-43df-b038-02c155e337b1" providerId="AD" clId="Web-{4FD19827-93C4-9516-AFFB-191C7F73F560}" dt="2025-12-08T15:55:10.973" v="10"/>
          <ac:spMkLst>
            <pc:docMk/>
            <pc:sldMk cId="109857222" sldId="256"/>
            <ac:spMk id="2" creationId="{00000000-0000-0000-0000-000000000000}"/>
          </ac:spMkLst>
        </pc:spChg>
        <pc:spChg chg="del">
          <ac:chgData name="Cade Hickson" userId="S::hicksonc@queens.edu::4f0eba62-54fc-43df-b038-02c155e337b1" providerId="AD" clId="Web-{4FD19827-93C4-9516-AFFB-191C7F73F560}" dt="2025-12-08T15:55:17.661" v="11"/>
          <ac:spMkLst>
            <pc:docMk/>
            <pc:sldMk cId="109857222" sldId="256"/>
            <ac:spMk id="3" creationId="{00000000-0000-0000-0000-000000000000}"/>
          </ac:spMkLst>
        </pc:spChg>
        <pc:spChg chg="add mod">
          <ac:chgData name="Cade Hickson" userId="S::hicksonc@queens.edu::4f0eba62-54fc-43df-b038-02c155e337b1" providerId="AD" clId="Web-{4FD19827-93C4-9516-AFFB-191C7F73F560}" dt="2025-12-08T15:55:20.864" v="12" actId="1076"/>
          <ac:spMkLst>
            <pc:docMk/>
            <pc:sldMk cId="109857222" sldId="256"/>
            <ac:spMk id="4" creationId="{87DBF3B6-0782-666B-856A-2D8B8565E7D1}"/>
          </ac:spMkLst>
        </pc:spChg>
        <pc:spChg chg="add mod">
          <ac:chgData name="Cade Hickson" userId="S::hicksonc@queens.edu::4f0eba62-54fc-43df-b038-02c155e337b1" providerId="AD" clId="Web-{4FD19827-93C4-9516-AFFB-191C7F73F560}" dt="2025-12-08T15:56:41.567" v="47" actId="1076"/>
          <ac:spMkLst>
            <pc:docMk/>
            <pc:sldMk cId="109857222" sldId="256"/>
            <ac:spMk id="5" creationId="{D8EFEC2A-4599-CFEE-17E7-F721FBC5E484}"/>
          </ac:spMkLst>
        </pc:spChg>
      </pc:sldChg>
      <pc:sldChg chg="addSp delSp modSp add replId">
        <pc:chgData name="Cade Hickson" userId="S::hicksonc@queens.edu::4f0eba62-54fc-43df-b038-02c155e337b1" providerId="AD" clId="Web-{4FD19827-93C4-9516-AFFB-191C7F73F560}" dt="2025-12-08T16:12:29.645" v="480" actId="20577"/>
        <pc:sldMkLst>
          <pc:docMk/>
          <pc:sldMk cId="409113173" sldId="257"/>
        </pc:sldMkLst>
        <pc:spChg chg="add mod">
          <ac:chgData name="Cade Hickson" userId="S::hicksonc@queens.edu::4f0eba62-54fc-43df-b038-02c155e337b1" providerId="AD" clId="Web-{4FD19827-93C4-9516-AFFB-191C7F73F560}" dt="2025-12-08T16:12:29.645" v="480" actId="20577"/>
          <ac:spMkLst>
            <pc:docMk/>
            <pc:sldMk cId="409113173" sldId="257"/>
            <ac:spMk id="3" creationId="{A1B976C2-C888-9DD7-58C1-0072F62DCC41}"/>
          </ac:spMkLst>
        </pc:spChg>
        <pc:spChg chg="del">
          <ac:chgData name="Cade Hickson" userId="S::hicksonc@queens.edu::4f0eba62-54fc-43df-b038-02c155e337b1" providerId="AD" clId="Web-{4FD19827-93C4-9516-AFFB-191C7F73F560}" dt="2025-12-08T15:56:53.239" v="49"/>
          <ac:spMkLst>
            <pc:docMk/>
            <pc:sldMk cId="409113173" sldId="257"/>
            <ac:spMk id="5" creationId="{68496D02-BAD8-6679-D285-2302E1132D72}"/>
          </ac:spMkLst>
        </pc:spChg>
        <pc:picChg chg="add mod">
          <ac:chgData name="Cade Hickson" userId="S::hicksonc@queens.edu::4f0eba62-54fc-43df-b038-02c155e337b1" providerId="AD" clId="Web-{4FD19827-93C4-9516-AFFB-191C7F73F560}" dt="2025-12-08T16:04:50.614" v="211" actId="1076"/>
          <ac:picMkLst>
            <pc:docMk/>
            <pc:sldMk cId="409113173" sldId="257"/>
            <ac:picMk id="2" creationId="{BA5DA588-5B47-708B-52C3-91721E59774A}"/>
          </ac:picMkLst>
        </pc:picChg>
      </pc:sldChg>
      <pc:sldChg chg="addSp delSp modSp add replId">
        <pc:chgData name="Cade Hickson" userId="S::hicksonc@queens.edu::4f0eba62-54fc-43df-b038-02c155e337b1" providerId="AD" clId="Web-{4FD19827-93C4-9516-AFFB-191C7F73F560}" dt="2025-12-08T16:22:23.755" v="1296" actId="1076"/>
        <pc:sldMkLst>
          <pc:docMk/>
          <pc:sldMk cId="1669436960" sldId="258"/>
        </pc:sldMkLst>
        <pc:spChg chg="add del mod">
          <ac:chgData name="Cade Hickson" userId="S::hicksonc@queens.edu::4f0eba62-54fc-43df-b038-02c155e337b1" providerId="AD" clId="Web-{4FD19827-93C4-9516-AFFB-191C7F73F560}" dt="2025-12-08T15:59:48.723" v="66"/>
          <ac:spMkLst>
            <pc:docMk/>
            <pc:sldMk cId="1669436960" sldId="258"/>
            <ac:spMk id="3" creationId="{9DD6B618-47B7-3937-605F-F8D436634F82}"/>
          </ac:spMkLst>
        </pc:spChg>
        <pc:spChg chg="mod">
          <ac:chgData name="Cade Hickson" userId="S::hicksonc@queens.edu::4f0eba62-54fc-43df-b038-02c155e337b1" providerId="AD" clId="Web-{4FD19827-93C4-9516-AFFB-191C7F73F560}" dt="2025-12-08T15:58:19.129" v="54" actId="20577"/>
          <ac:spMkLst>
            <pc:docMk/>
            <pc:sldMk cId="1669436960" sldId="258"/>
            <ac:spMk id="4" creationId="{CA32FD3D-929D-565B-0D19-4504127640ED}"/>
          </ac:spMkLst>
        </pc:spChg>
        <pc:spChg chg="add mod">
          <ac:chgData name="Cade Hickson" userId="S::hicksonc@queens.edu::4f0eba62-54fc-43df-b038-02c155e337b1" providerId="AD" clId="Web-{4FD19827-93C4-9516-AFFB-191C7F73F560}" dt="2025-12-08T16:22:23.755" v="1296" actId="1076"/>
          <ac:spMkLst>
            <pc:docMk/>
            <pc:sldMk cId="1669436960" sldId="258"/>
            <ac:spMk id="7" creationId="{31C05CED-2D43-7E7E-0583-FFADE24989E4}"/>
          </ac:spMkLst>
        </pc:spChg>
        <pc:graphicFrameChg chg="add mod modGraphic">
          <ac:chgData name="Cade Hickson" userId="S::hicksonc@queens.edu::4f0eba62-54fc-43df-b038-02c155e337b1" providerId="AD" clId="Web-{4FD19827-93C4-9516-AFFB-191C7F73F560}" dt="2025-12-08T16:01:28.489" v="134" actId="1076"/>
          <ac:graphicFrameMkLst>
            <pc:docMk/>
            <pc:sldMk cId="1669436960" sldId="258"/>
            <ac:graphicFrameMk id="6" creationId="{CA44EE88-0F6A-0776-7D29-E26DE0503DAE}"/>
          </ac:graphicFrameMkLst>
        </pc:graphicFrameChg>
        <pc:picChg chg="del">
          <ac:chgData name="Cade Hickson" userId="S::hicksonc@queens.edu::4f0eba62-54fc-43df-b038-02c155e337b1" providerId="AD" clId="Web-{4FD19827-93C4-9516-AFFB-191C7F73F560}" dt="2025-12-08T15:57:18.395" v="52"/>
          <ac:picMkLst>
            <pc:docMk/>
            <pc:sldMk cId="1669436960" sldId="258"/>
            <ac:picMk id="2" creationId="{F06F7CF3-0C7D-4E7C-5060-6D5581514A58}"/>
          </ac:picMkLst>
        </pc:picChg>
      </pc:sldChg>
      <pc:sldChg chg="addSp delSp modSp add replId">
        <pc:chgData name="Cade Hickson" userId="S::hicksonc@queens.edu::4f0eba62-54fc-43df-b038-02c155e337b1" providerId="AD" clId="Web-{4FD19827-93C4-9516-AFFB-191C7F73F560}" dt="2025-12-08T16:22:11.223" v="1294" actId="1076"/>
        <pc:sldMkLst>
          <pc:docMk/>
          <pc:sldMk cId="1625416729" sldId="259"/>
        </pc:sldMkLst>
        <pc:spChg chg="add mod">
          <ac:chgData name="Cade Hickson" userId="S::hicksonc@queens.edu::4f0eba62-54fc-43df-b038-02c155e337b1" providerId="AD" clId="Web-{4FD19827-93C4-9516-AFFB-191C7F73F560}" dt="2025-12-08T16:22:11.223" v="1294" actId="1076"/>
          <ac:spMkLst>
            <pc:docMk/>
            <pc:sldMk cId="1625416729" sldId="259"/>
            <ac:spMk id="5" creationId="{F0170E67-8776-92C0-3AFA-4D15D1205B57}"/>
          </ac:spMkLst>
        </pc:spChg>
        <pc:graphicFrameChg chg="add mod modGraphic">
          <ac:chgData name="Cade Hickson" userId="S::hicksonc@queens.edu::4f0eba62-54fc-43df-b038-02c155e337b1" providerId="AD" clId="Web-{4FD19827-93C4-9516-AFFB-191C7F73F560}" dt="2025-12-08T16:04:17.458" v="207"/>
          <ac:graphicFrameMkLst>
            <pc:docMk/>
            <pc:sldMk cId="1625416729" sldId="259"/>
            <ac:graphicFrameMk id="3" creationId="{DC3983F7-ED0D-DEC9-554A-61D66BC81A1C}"/>
          </ac:graphicFrameMkLst>
        </pc:graphicFrameChg>
        <pc:graphicFrameChg chg="del">
          <ac:chgData name="Cade Hickson" userId="S::hicksonc@queens.edu::4f0eba62-54fc-43df-b038-02c155e337b1" providerId="AD" clId="Web-{4FD19827-93C4-9516-AFFB-191C7F73F560}" dt="2025-12-08T16:01:59.098" v="136"/>
          <ac:graphicFrameMkLst>
            <pc:docMk/>
            <pc:sldMk cId="1625416729" sldId="259"/>
            <ac:graphicFrameMk id="6" creationId="{22ECF8F9-47DB-9D5A-24F5-5BE72391D6C2}"/>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DBF3B6-0782-666B-856A-2D8B8565E7D1}"/>
              </a:ext>
            </a:extLst>
          </p:cNvPr>
          <p:cNvSpPr/>
          <p:nvPr/>
        </p:nvSpPr>
        <p:spPr>
          <a:xfrm>
            <a:off x="-1260" y="-1636"/>
            <a:ext cx="12193258" cy="6857119"/>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8EFEC2A-4599-CFEE-17E7-F721FBC5E484}"/>
              </a:ext>
            </a:extLst>
          </p:cNvPr>
          <p:cNvSpPr txBox="1"/>
          <p:nvPr/>
        </p:nvSpPr>
        <p:spPr>
          <a:xfrm>
            <a:off x="3014295" y="1854631"/>
            <a:ext cx="616906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dirty="0">
                <a:solidFill>
                  <a:schemeClr val="bg1"/>
                </a:solidFill>
                <a:latin typeface="Abadi"/>
                <a:ea typeface="Calibri"/>
                <a:cs typeface="Calibri"/>
              </a:rPr>
              <a:t>Final</a:t>
            </a:r>
          </a:p>
          <a:p>
            <a:pPr algn="ctr"/>
            <a:r>
              <a:rPr lang="en-US" sz="4800" dirty="0">
                <a:solidFill>
                  <a:schemeClr val="bg1"/>
                </a:solidFill>
                <a:latin typeface="Abadi"/>
                <a:ea typeface="Calibri"/>
                <a:cs typeface="Calibri"/>
              </a:rPr>
              <a:t>Figures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C2605-9FBC-AEB5-0D0D-ECED6DC88E9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EAC0419-152E-31F0-28F1-03E03BE3EF3B}"/>
              </a:ext>
            </a:extLst>
          </p:cNvPr>
          <p:cNvSpPr/>
          <p:nvPr/>
        </p:nvSpPr>
        <p:spPr>
          <a:xfrm>
            <a:off x="-1260" y="-1636"/>
            <a:ext cx="12193258" cy="6857119"/>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descr="A screenshot of a graph&#10;&#10;AI-generated content may be incorrect.">
            <a:extLst>
              <a:ext uri="{FF2B5EF4-FFF2-40B4-BE49-F238E27FC236}">
                <a16:creationId xmlns:a16="http://schemas.microsoft.com/office/drawing/2014/main" id="{BA5DA588-5B47-708B-52C3-91721E59774A}"/>
              </a:ext>
            </a:extLst>
          </p:cNvPr>
          <p:cNvPicPr>
            <a:picLocks noChangeAspect="1"/>
          </p:cNvPicPr>
          <p:nvPr/>
        </p:nvPicPr>
        <p:blipFill>
          <a:blip r:embed="rId2"/>
          <a:stretch>
            <a:fillRect/>
          </a:stretch>
        </p:blipFill>
        <p:spPr>
          <a:xfrm>
            <a:off x="6655851" y="1391626"/>
            <a:ext cx="5095646" cy="4083930"/>
          </a:xfrm>
          <a:prstGeom prst="rect">
            <a:avLst/>
          </a:prstGeom>
        </p:spPr>
      </p:pic>
      <p:sp>
        <p:nvSpPr>
          <p:cNvPr id="3" name="TextBox 2">
            <a:extLst>
              <a:ext uri="{FF2B5EF4-FFF2-40B4-BE49-F238E27FC236}">
                <a16:creationId xmlns:a16="http://schemas.microsoft.com/office/drawing/2014/main" id="{A1B976C2-C888-9DD7-58C1-0072F62DCC41}"/>
              </a:ext>
            </a:extLst>
          </p:cNvPr>
          <p:cNvSpPr txBox="1"/>
          <p:nvPr/>
        </p:nvSpPr>
        <p:spPr>
          <a:xfrm>
            <a:off x="803753" y="866383"/>
            <a:ext cx="4874712"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Neural Network</a:t>
            </a:r>
          </a:p>
          <a:p>
            <a:pPr marL="285750" indent="-285750">
              <a:buFont typeface="Arial"/>
              <a:buChar char="•"/>
            </a:pPr>
            <a:r>
              <a:rPr lang="en-US" dirty="0">
                <a:solidFill>
                  <a:schemeClr val="bg1"/>
                </a:solidFill>
              </a:rPr>
              <a:t>Here my neural network is looking at the relationship between ticks and fleas and recaptures in the field</a:t>
            </a:r>
          </a:p>
          <a:p>
            <a:pPr marL="285750" indent="-285750">
              <a:buFont typeface="Arial"/>
              <a:buChar char="•"/>
            </a:pPr>
            <a:endParaRPr lang="en-US" dirty="0">
              <a:solidFill>
                <a:schemeClr val="bg1"/>
              </a:solidFill>
            </a:endParaRPr>
          </a:p>
          <a:p>
            <a:pPr marL="285750" indent="-285750">
              <a:buFont typeface="Arial"/>
              <a:buChar char="•"/>
            </a:pPr>
            <a:r>
              <a:rPr lang="en-US" dirty="0">
                <a:solidFill>
                  <a:schemeClr val="bg1"/>
                </a:solidFill>
              </a:rPr>
              <a:t>There is a very low correlation between these three variables as the highest correlation was at 12, 17 and was only ~0.12</a:t>
            </a:r>
          </a:p>
          <a:p>
            <a:pPr marL="285750" indent="-285750">
              <a:buFont typeface="Arial"/>
              <a:buChar char="•"/>
            </a:pPr>
            <a:endParaRPr lang="en-US" dirty="0">
              <a:solidFill>
                <a:schemeClr val="bg1"/>
              </a:solidFill>
            </a:endParaRPr>
          </a:p>
          <a:p>
            <a:pPr marL="285750" indent="-285750">
              <a:buFont typeface="Arial"/>
              <a:buChar char="•"/>
            </a:pPr>
            <a:r>
              <a:rPr lang="en-US" dirty="0">
                <a:solidFill>
                  <a:schemeClr val="bg1"/>
                </a:solidFill>
              </a:rPr>
              <a:t>I chose to do this type of analysis because it clearly portrays the relationship between multiple variables and it is very easy to modify in order to better visualize and understand your data.</a:t>
            </a:r>
          </a:p>
        </p:txBody>
      </p:sp>
    </p:spTree>
    <p:extLst>
      <p:ext uri="{BB962C8B-B14F-4D97-AF65-F5344CB8AC3E}">
        <p14:creationId xmlns:p14="http://schemas.microsoft.com/office/powerpoint/2010/main" val="409113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32439-0825-4792-F5C7-DAAC2393059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A32FD3D-929D-565B-0D19-4504127640ED}"/>
              </a:ext>
            </a:extLst>
          </p:cNvPr>
          <p:cNvSpPr/>
          <p:nvPr/>
        </p:nvSpPr>
        <p:spPr>
          <a:xfrm>
            <a:off x="-1260" y="-1636"/>
            <a:ext cx="12193258" cy="6857119"/>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dirty="0"/>
          </a:p>
        </p:txBody>
      </p:sp>
      <p:graphicFrame>
        <p:nvGraphicFramePr>
          <p:cNvPr id="6" name="Table 5">
            <a:extLst>
              <a:ext uri="{FF2B5EF4-FFF2-40B4-BE49-F238E27FC236}">
                <a16:creationId xmlns:a16="http://schemas.microsoft.com/office/drawing/2014/main" id="{CA44EE88-0F6A-0776-7D29-E26DE0503DAE}"/>
              </a:ext>
            </a:extLst>
          </p:cNvPr>
          <p:cNvGraphicFramePr>
            <a:graphicFrameLocks noGrp="1"/>
          </p:cNvGraphicFramePr>
          <p:nvPr>
            <p:extLst>
              <p:ext uri="{D42A27DB-BD31-4B8C-83A1-F6EECF244321}">
                <p14:modId xmlns:p14="http://schemas.microsoft.com/office/powerpoint/2010/main" val="2442599615"/>
              </p:ext>
            </p:extLst>
          </p:nvPr>
        </p:nvGraphicFramePr>
        <p:xfrm>
          <a:off x="5710409" y="165253"/>
          <a:ext cx="6064495" cy="6858000"/>
        </p:xfrm>
        <a:graphic>
          <a:graphicData uri="http://schemas.openxmlformats.org/drawingml/2006/table">
            <a:tbl>
              <a:tblPr bandRow="1">
                <a:tableStyleId>{5C22544A-7EE6-4342-B048-85BDC9FD1C3A}</a:tableStyleId>
              </a:tblPr>
              <a:tblGrid>
                <a:gridCol w="1212899">
                  <a:extLst>
                    <a:ext uri="{9D8B030D-6E8A-4147-A177-3AD203B41FA5}">
                      <a16:colId xmlns:a16="http://schemas.microsoft.com/office/drawing/2014/main" val="2779227451"/>
                    </a:ext>
                  </a:extLst>
                </a:gridCol>
                <a:gridCol w="1212899">
                  <a:extLst>
                    <a:ext uri="{9D8B030D-6E8A-4147-A177-3AD203B41FA5}">
                      <a16:colId xmlns:a16="http://schemas.microsoft.com/office/drawing/2014/main" val="3825514094"/>
                    </a:ext>
                  </a:extLst>
                </a:gridCol>
                <a:gridCol w="1212899">
                  <a:extLst>
                    <a:ext uri="{9D8B030D-6E8A-4147-A177-3AD203B41FA5}">
                      <a16:colId xmlns:a16="http://schemas.microsoft.com/office/drawing/2014/main" val="3631250002"/>
                    </a:ext>
                  </a:extLst>
                </a:gridCol>
                <a:gridCol w="1212899">
                  <a:extLst>
                    <a:ext uri="{9D8B030D-6E8A-4147-A177-3AD203B41FA5}">
                      <a16:colId xmlns:a16="http://schemas.microsoft.com/office/drawing/2014/main" val="3631034140"/>
                    </a:ext>
                  </a:extLst>
                </a:gridCol>
                <a:gridCol w="1212899">
                  <a:extLst>
                    <a:ext uri="{9D8B030D-6E8A-4147-A177-3AD203B41FA5}">
                      <a16:colId xmlns:a16="http://schemas.microsoft.com/office/drawing/2014/main" val="3119832052"/>
                    </a:ext>
                  </a:extLst>
                </a:gridCol>
              </a:tblGrid>
              <a:tr h="272983">
                <a:tc>
                  <a:txBody>
                    <a:bodyPr/>
                    <a:lstStyle/>
                    <a:p>
                      <a:pPr>
                        <a:buNone/>
                      </a:pPr>
                      <a:r>
                        <a:rPr lang="en-US" b="1" dirty="0">
                          <a:solidFill>
                            <a:schemeClr val="bg1"/>
                          </a:solidFill>
                        </a:rPr>
                        <a:t>Predictor</a:t>
                      </a:r>
                      <a:endParaRPr lang="en-US" dirty="0">
                        <a:solidFill>
                          <a:schemeClr val="bg1"/>
                        </a:solidFill>
                      </a:endParaRPr>
                    </a:p>
                  </a:txBody>
                  <a:tcPr anchor="ctr">
                    <a:lnL>
                      <a:noFill/>
                    </a:lnL>
                    <a:lnR>
                      <a:noFill/>
                    </a:lnR>
                    <a:lnT>
                      <a:noFill/>
                    </a:lnT>
                    <a:lnB>
                      <a:noFill/>
                    </a:lnB>
                    <a:noFill/>
                  </a:tcPr>
                </a:tc>
                <a:tc>
                  <a:txBody>
                    <a:bodyPr/>
                    <a:lstStyle/>
                    <a:p>
                      <a:pPr algn="r">
                        <a:buNone/>
                      </a:pPr>
                      <a:r>
                        <a:rPr lang="en-US" b="1" dirty="0">
                          <a:solidFill>
                            <a:schemeClr val="bg1"/>
                          </a:solidFill>
                        </a:rPr>
                        <a:t>Estimate</a:t>
                      </a:r>
                      <a:endParaRPr lang="en-US" dirty="0">
                        <a:solidFill>
                          <a:schemeClr val="bg1"/>
                        </a:solidFill>
                      </a:endParaRPr>
                    </a:p>
                  </a:txBody>
                  <a:tcPr anchor="ctr">
                    <a:lnL>
                      <a:noFill/>
                    </a:lnL>
                    <a:lnR>
                      <a:noFill/>
                    </a:lnR>
                    <a:lnT>
                      <a:noFill/>
                    </a:lnT>
                    <a:lnB>
                      <a:noFill/>
                    </a:lnB>
                    <a:noFill/>
                  </a:tcPr>
                </a:tc>
                <a:tc>
                  <a:txBody>
                    <a:bodyPr/>
                    <a:lstStyle/>
                    <a:p>
                      <a:pPr algn="r">
                        <a:buNone/>
                      </a:pPr>
                      <a:r>
                        <a:rPr lang="en-US" b="1" dirty="0">
                          <a:solidFill>
                            <a:schemeClr val="bg1"/>
                          </a:solidFill>
                        </a:rPr>
                        <a:t>Std. Error</a:t>
                      </a:r>
                      <a:endParaRPr lang="en-US" dirty="0">
                        <a:solidFill>
                          <a:schemeClr val="bg1"/>
                        </a:solidFill>
                      </a:endParaRPr>
                    </a:p>
                  </a:txBody>
                  <a:tcPr anchor="ctr">
                    <a:lnL>
                      <a:noFill/>
                    </a:lnL>
                    <a:lnR>
                      <a:noFill/>
                    </a:lnR>
                    <a:lnT>
                      <a:noFill/>
                    </a:lnT>
                    <a:lnB>
                      <a:noFill/>
                    </a:lnB>
                    <a:noFill/>
                  </a:tcPr>
                </a:tc>
                <a:tc>
                  <a:txBody>
                    <a:bodyPr/>
                    <a:lstStyle/>
                    <a:p>
                      <a:pPr algn="r">
                        <a:buNone/>
                      </a:pPr>
                      <a:r>
                        <a:rPr lang="en-US" b="1" dirty="0">
                          <a:solidFill>
                            <a:schemeClr val="bg1"/>
                          </a:solidFill>
                        </a:rPr>
                        <a:t>z value</a:t>
                      </a:r>
                      <a:endParaRPr lang="en-US" dirty="0">
                        <a:solidFill>
                          <a:schemeClr val="bg1"/>
                        </a:solidFill>
                      </a:endParaRPr>
                    </a:p>
                  </a:txBody>
                  <a:tcPr anchor="ctr">
                    <a:lnL>
                      <a:noFill/>
                    </a:lnL>
                    <a:lnR>
                      <a:noFill/>
                    </a:lnR>
                    <a:lnT>
                      <a:noFill/>
                    </a:lnT>
                    <a:lnB>
                      <a:noFill/>
                    </a:lnB>
                    <a:noFill/>
                  </a:tcPr>
                </a:tc>
                <a:tc>
                  <a:txBody>
                    <a:bodyPr/>
                    <a:lstStyle/>
                    <a:p>
                      <a:pPr algn="r">
                        <a:buNone/>
                      </a:pPr>
                      <a:r>
                        <a:rPr lang="en-US" b="1" dirty="0">
                          <a:solidFill>
                            <a:schemeClr val="bg1"/>
                          </a:solidFill>
                        </a:rPr>
                        <a:t>p-value</a:t>
                      </a:r>
                      <a:endParaRPr lang="en-US" dirty="0">
                        <a:solidFill>
                          <a:schemeClr val="bg1"/>
                        </a:solidFill>
                      </a:endParaRPr>
                    </a:p>
                  </a:txBody>
                  <a:tcPr anchor="ctr">
                    <a:lnL>
                      <a:noFill/>
                    </a:lnL>
                    <a:lnR>
                      <a:noFill/>
                    </a:lnR>
                    <a:lnT>
                      <a:noFill/>
                    </a:lnT>
                    <a:lnB>
                      <a:noFill/>
                    </a:lnB>
                    <a:noFill/>
                  </a:tcPr>
                </a:tc>
                <a:extLst>
                  <a:ext uri="{0D108BD9-81ED-4DB2-BD59-A6C34878D82A}">
                    <a16:rowId xmlns:a16="http://schemas.microsoft.com/office/drawing/2014/main" val="3782944660"/>
                  </a:ext>
                </a:extLst>
              </a:tr>
              <a:tr h="272983">
                <a:tc>
                  <a:txBody>
                    <a:bodyPr/>
                    <a:lstStyle/>
                    <a:p>
                      <a:pPr>
                        <a:buNone/>
                      </a:pPr>
                      <a:r>
                        <a:rPr lang="en-US" dirty="0">
                          <a:solidFill>
                            <a:schemeClr val="bg1"/>
                          </a:solidFill>
                        </a:rPr>
                        <a:t>(Intercept)</a:t>
                      </a:r>
                    </a:p>
                  </a:txBody>
                  <a:tcPr anchor="ctr">
                    <a:lnL>
                      <a:noFill/>
                    </a:lnL>
                    <a:lnR>
                      <a:noFill/>
                    </a:lnR>
                    <a:lnT>
                      <a:noFill/>
                    </a:lnT>
                    <a:lnB>
                      <a:noFill/>
                    </a:lnB>
                    <a:noFill/>
                  </a:tcPr>
                </a:tc>
                <a:tc>
                  <a:txBody>
                    <a:bodyPr/>
                    <a:lstStyle/>
                    <a:p>
                      <a:pPr algn="r">
                        <a:buNone/>
                      </a:pPr>
                      <a:r>
                        <a:rPr lang="en-US" dirty="0">
                          <a:solidFill>
                            <a:schemeClr val="bg1"/>
                          </a:solidFill>
                        </a:rPr>
                        <a:t>−2.9122</a:t>
                      </a:r>
                    </a:p>
                  </a:txBody>
                  <a:tcPr anchor="ctr">
                    <a:lnL>
                      <a:noFill/>
                    </a:lnL>
                    <a:lnR>
                      <a:noFill/>
                    </a:lnR>
                    <a:lnT>
                      <a:noFill/>
                    </a:lnT>
                    <a:lnB>
                      <a:noFill/>
                    </a:lnB>
                    <a:noFill/>
                  </a:tcPr>
                </a:tc>
                <a:tc>
                  <a:txBody>
                    <a:bodyPr/>
                    <a:lstStyle/>
                    <a:p>
                      <a:pPr algn="r">
                        <a:buNone/>
                      </a:pPr>
                      <a:r>
                        <a:rPr lang="en-US" err="1">
                          <a:solidFill>
                            <a:schemeClr val="bg1"/>
                          </a:solidFill>
                        </a:rPr>
                        <a:t>NaN</a:t>
                      </a:r>
                      <a:endParaRPr lang="en-US" dirty="0" err="1">
                        <a:solidFill>
                          <a:schemeClr val="bg1"/>
                        </a:solidFill>
                      </a:endParaRPr>
                    </a:p>
                  </a:txBody>
                  <a:tcPr anchor="ctr">
                    <a:lnL>
                      <a:noFill/>
                    </a:lnL>
                    <a:lnR>
                      <a:noFill/>
                    </a:lnR>
                    <a:lnT>
                      <a:noFill/>
                    </a:lnT>
                    <a:lnB>
                      <a:noFill/>
                    </a:lnB>
                    <a:noFill/>
                  </a:tcPr>
                </a:tc>
                <a:tc>
                  <a:txBody>
                    <a:bodyPr/>
                    <a:lstStyle/>
                    <a:p>
                      <a:pPr algn="r">
                        <a:buNone/>
                      </a:pPr>
                      <a:r>
                        <a:rPr lang="en-US" err="1">
                          <a:solidFill>
                            <a:schemeClr val="bg1"/>
                          </a:solidFill>
                        </a:rPr>
                        <a:t>NaN</a:t>
                      </a:r>
                      <a:endParaRPr lang="en-US" dirty="0" err="1">
                        <a:solidFill>
                          <a:schemeClr val="bg1"/>
                        </a:solidFill>
                      </a:endParaRPr>
                    </a:p>
                  </a:txBody>
                  <a:tcPr anchor="ctr">
                    <a:lnL>
                      <a:noFill/>
                    </a:lnL>
                    <a:lnR>
                      <a:noFill/>
                    </a:lnR>
                    <a:lnT>
                      <a:noFill/>
                    </a:lnT>
                    <a:lnB>
                      <a:noFill/>
                    </a:lnB>
                    <a:noFill/>
                  </a:tcPr>
                </a:tc>
                <a:tc>
                  <a:txBody>
                    <a:bodyPr/>
                    <a:lstStyle/>
                    <a:p>
                      <a:pPr algn="r">
                        <a:buNone/>
                      </a:pPr>
                      <a:r>
                        <a:rPr lang="en-US" err="1">
                          <a:solidFill>
                            <a:schemeClr val="bg1"/>
                          </a:solidFill>
                        </a:rPr>
                        <a:t>NaN</a:t>
                      </a:r>
                      <a:endParaRPr lang="en-US" dirty="0" err="1">
                        <a:solidFill>
                          <a:schemeClr val="bg1"/>
                        </a:solidFill>
                      </a:endParaRPr>
                    </a:p>
                  </a:txBody>
                  <a:tcPr anchor="ctr">
                    <a:lnL>
                      <a:noFill/>
                    </a:lnL>
                    <a:lnR>
                      <a:noFill/>
                    </a:lnR>
                    <a:lnT>
                      <a:noFill/>
                    </a:lnT>
                    <a:lnB>
                      <a:noFill/>
                    </a:lnB>
                    <a:noFill/>
                  </a:tcPr>
                </a:tc>
                <a:extLst>
                  <a:ext uri="{0D108BD9-81ED-4DB2-BD59-A6C34878D82A}">
                    <a16:rowId xmlns:a16="http://schemas.microsoft.com/office/drawing/2014/main" val="1088185445"/>
                  </a:ext>
                </a:extLst>
              </a:tr>
              <a:tr h="272983">
                <a:tc>
                  <a:txBody>
                    <a:bodyPr/>
                    <a:lstStyle/>
                    <a:p>
                      <a:pPr>
                        <a:buNone/>
                      </a:pPr>
                      <a:r>
                        <a:rPr lang="en-US" err="1">
                          <a:solidFill>
                            <a:schemeClr val="bg1"/>
                          </a:solidFill>
                        </a:rPr>
                        <a:t>T_Loadz</a:t>
                      </a:r>
                      <a:endParaRPr lang="en-US" dirty="0" err="1">
                        <a:solidFill>
                          <a:schemeClr val="bg1"/>
                        </a:solidFill>
                      </a:endParaRPr>
                    </a:p>
                  </a:txBody>
                  <a:tcPr anchor="ctr">
                    <a:lnL>
                      <a:noFill/>
                    </a:lnL>
                    <a:lnR>
                      <a:noFill/>
                    </a:lnR>
                    <a:lnT>
                      <a:noFill/>
                    </a:lnT>
                    <a:lnB>
                      <a:noFill/>
                    </a:lnB>
                    <a:noFill/>
                  </a:tcPr>
                </a:tc>
                <a:tc>
                  <a:txBody>
                    <a:bodyPr/>
                    <a:lstStyle/>
                    <a:p>
                      <a:pPr algn="r">
                        <a:buNone/>
                      </a:pPr>
                      <a:r>
                        <a:rPr lang="en-US" dirty="0">
                          <a:solidFill>
                            <a:schemeClr val="bg1"/>
                          </a:solidFill>
                        </a:rPr>
                        <a:t>−9.4642</a:t>
                      </a:r>
                    </a:p>
                  </a:txBody>
                  <a:tcPr anchor="ctr">
                    <a:lnL>
                      <a:noFill/>
                    </a:lnL>
                    <a:lnR>
                      <a:noFill/>
                    </a:lnR>
                    <a:lnT>
                      <a:noFill/>
                    </a:lnT>
                    <a:lnB>
                      <a:noFill/>
                    </a:lnB>
                    <a:noFill/>
                  </a:tcPr>
                </a:tc>
                <a:tc>
                  <a:txBody>
                    <a:bodyPr/>
                    <a:lstStyle/>
                    <a:p>
                      <a:pPr algn="r">
                        <a:buNone/>
                      </a:pPr>
                      <a:r>
                        <a:rPr lang="en-US" err="1">
                          <a:solidFill>
                            <a:schemeClr val="bg1"/>
                          </a:solidFill>
                        </a:rPr>
                        <a:t>NaN</a:t>
                      </a:r>
                      <a:endParaRPr lang="en-US" dirty="0" err="1">
                        <a:solidFill>
                          <a:schemeClr val="bg1"/>
                        </a:solidFill>
                      </a:endParaRPr>
                    </a:p>
                  </a:txBody>
                  <a:tcPr anchor="ctr">
                    <a:lnL>
                      <a:noFill/>
                    </a:lnL>
                    <a:lnR>
                      <a:noFill/>
                    </a:lnR>
                    <a:lnT>
                      <a:noFill/>
                    </a:lnT>
                    <a:lnB>
                      <a:noFill/>
                    </a:lnB>
                    <a:noFill/>
                  </a:tcPr>
                </a:tc>
                <a:tc>
                  <a:txBody>
                    <a:bodyPr/>
                    <a:lstStyle/>
                    <a:p>
                      <a:pPr algn="r">
                        <a:buNone/>
                      </a:pPr>
                      <a:r>
                        <a:rPr lang="en-US" err="1">
                          <a:solidFill>
                            <a:schemeClr val="bg1"/>
                          </a:solidFill>
                        </a:rPr>
                        <a:t>NaN</a:t>
                      </a:r>
                      <a:endParaRPr lang="en-US" dirty="0" err="1">
                        <a:solidFill>
                          <a:schemeClr val="bg1"/>
                        </a:solidFill>
                      </a:endParaRPr>
                    </a:p>
                  </a:txBody>
                  <a:tcPr anchor="ctr">
                    <a:lnL>
                      <a:noFill/>
                    </a:lnL>
                    <a:lnR>
                      <a:noFill/>
                    </a:lnR>
                    <a:lnT>
                      <a:noFill/>
                    </a:lnT>
                    <a:lnB>
                      <a:noFill/>
                    </a:lnB>
                    <a:noFill/>
                  </a:tcPr>
                </a:tc>
                <a:tc>
                  <a:txBody>
                    <a:bodyPr/>
                    <a:lstStyle/>
                    <a:p>
                      <a:pPr algn="r">
                        <a:buNone/>
                      </a:pPr>
                      <a:r>
                        <a:rPr lang="en-US" err="1">
                          <a:solidFill>
                            <a:schemeClr val="bg1"/>
                          </a:solidFill>
                        </a:rPr>
                        <a:t>NaN</a:t>
                      </a:r>
                      <a:endParaRPr lang="en-US" dirty="0" err="1">
                        <a:solidFill>
                          <a:schemeClr val="bg1"/>
                        </a:solidFill>
                      </a:endParaRPr>
                    </a:p>
                  </a:txBody>
                  <a:tcPr anchor="ctr">
                    <a:lnL>
                      <a:noFill/>
                    </a:lnL>
                    <a:lnR>
                      <a:noFill/>
                    </a:lnR>
                    <a:lnT>
                      <a:noFill/>
                    </a:lnT>
                    <a:lnB>
                      <a:noFill/>
                    </a:lnB>
                    <a:noFill/>
                  </a:tcPr>
                </a:tc>
                <a:extLst>
                  <a:ext uri="{0D108BD9-81ED-4DB2-BD59-A6C34878D82A}">
                    <a16:rowId xmlns:a16="http://schemas.microsoft.com/office/drawing/2014/main" val="490024399"/>
                  </a:ext>
                </a:extLst>
              </a:tr>
              <a:tr h="272983">
                <a:tc>
                  <a:txBody>
                    <a:bodyPr/>
                    <a:lstStyle/>
                    <a:p>
                      <a:pPr>
                        <a:buNone/>
                      </a:pPr>
                      <a:r>
                        <a:rPr lang="en-US" err="1">
                          <a:solidFill>
                            <a:schemeClr val="bg1"/>
                          </a:solidFill>
                        </a:rPr>
                        <a:t>Massz</a:t>
                      </a:r>
                      <a:endParaRPr lang="en-US" dirty="0" err="1">
                        <a:solidFill>
                          <a:schemeClr val="bg1"/>
                        </a:solidFill>
                      </a:endParaRPr>
                    </a:p>
                  </a:txBody>
                  <a:tcPr anchor="ctr">
                    <a:lnL>
                      <a:noFill/>
                    </a:lnL>
                    <a:lnR>
                      <a:noFill/>
                    </a:lnR>
                    <a:lnT>
                      <a:noFill/>
                    </a:lnT>
                    <a:lnB>
                      <a:noFill/>
                    </a:lnB>
                    <a:noFill/>
                  </a:tcPr>
                </a:tc>
                <a:tc>
                  <a:txBody>
                    <a:bodyPr/>
                    <a:lstStyle/>
                    <a:p>
                      <a:pPr algn="r">
                        <a:buNone/>
                      </a:pPr>
                      <a:r>
                        <a:rPr lang="en-US" dirty="0">
                          <a:solidFill>
                            <a:schemeClr val="bg1"/>
                          </a:solidFill>
                        </a:rPr>
                        <a:t>−0.5496</a:t>
                      </a:r>
                    </a:p>
                  </a:txBody>
                  <a:tcPr anchor="ctr">
                    <a:lnL>
                      <a:noFill/>
                    </a:lnL>
                    <a:lnR>
                      <a:noFill/>
                    </a:lnR>
                    <a:lnT>
                      <a:noFill/>
                    </a:lnT>
                    <a:lnB>
                      <a:noFill/>
                    </a:lnB>
                    <a:noFill/>
                  </a:tcPr>
                </a:tc>
                <a:tc>
                  <a:txBody>
                    <a:bodyPr/>
                    <a:lstStyle/>
                    <a:p>
                      <a:pPr algn="r">
                        <a:buNone/>
                      </a:pPr>
                      <a:r>
                        <a:rPr lang="en-US" dirty="0">
                          <a:solidFill>
                            <a:schemeClr val="bg1"/>
                          </a:solidFill>
                        </a:rPr>
                        <a:t>0.3048</a:t>
                      </a:r>
                    </a:p>
                  </a:txBody>
                  <a:tcPr anchor="ctr">
                    <a:lnL>
                      <a:noFill/>
                    </a:lnL>
                    <a:lnR>
                      <a:noFill/>
                    </a:lnR>
                    <a:lnT>
                      <a:noFill/>
                    </a:lnT>
                    <a:lnB>
                      <a:noFill/>
                    </a:lnB>
                    <a:noFill/>
                  </a:tcPr>
                </a:tc>
                <a:tc>
                  <a:txBody>
                    <a:bodyPr/>
                    <a:lstStyle/>
                    <a:p>
                      <a:pPr algn="r">
                        <a:buNone/>
                      </a:pPr>
                      <a:r>
                        <a:rPr lang="en-US" dirty="0">
                          <a:solidFill>
                            <a:schemeClr val="bg1"/>
                          </a:solidFill>
                        </a:rPr>
                        <a:t>−1.803</a:t>
                      </a:r>
                    </a:p>
                  </a:txBody>
                  <a:tcPr anchor="ctr">
                    <a:lnL>
                      <a:noFill/>
                    </a:lnL>
                    <a:lnR>
                      <a:noFill/>
                    </a:lnR>
                    <a:lnT>
                      <a:noFill/>
                    </a:lnT>
                    <a:lnB>
                      <a:noFill/>
                    </a:lnB>
                    <a:noFill/>
                  </a:tcPr>
                </a:tc>
                <a:tc>
                  <a:txBody>
                    <a:bodyPr/>
                    <a:lstStyle/>
                    <a:p>
                      <a:pPr algn="r">
                        <a:buNone/>
                      </a:pPr>
                      <a:r>
                        <a:rPr lang="en-US" dirty="0">
                          <a:solidFill>
                            <a:schemeClr val="bg1"/>
                          </a:solidFill>
                        </a:rPr>
                        <a:t>0.0713</a:t>
                      </a:r>
                    </a:p>
                  </a:txBody>
                  <a:tcPr anchor="ctr">
                    <a:lnL>
                      <a:noFill/>
                    </a:lnL>
                    <a:lnR>
                      <a:noFill/>
                    </a:lnR>
                    <a:lnT>
                      <a:noFill/>
                    </a:lnT>
                    <a:lnB>
                      <a:noFill/>
                    </a:lnB>
                    <a:noFill/>
                  </a:tcPr>
                </a:tc>
                <a:extLst>
                  <a:ext uri="{0D108BD9-81ED-4DB2-BD59-A6C34878D82A}">
                    <a16:rowId xmlns:a16="http://schemas.microsoft.com/office/drawing/2014/main" val="722003961"/>
                  </a:ext>
                </a:extLst>
              </a:tr>
              <a:tr h="475771">
                <a:tc>
                  <a:txBody>
                    <a:bodyPr/>
                    <a:lstStyle/>
                    <a:p>
                      <a:pPr>
                        <a:buNone/>
                      </a:pPr>
                      <a:r>
                        <a:rPr lang="en-US" dirty="0">
                          <a:solidFill>
                            <a:schemeClr val="bg1"/>
                          </a:solidFill>
                        </a:rPr>
                        <a:t>Condition (ta)</a:t>
                      </a:r>
                    </a:p>
                  </a:txBody>
                  <a:tcPr anchor="ctr">
                    <a:lnL>
                      <a:noFill/>
                    </a:lnL>
                    <a:lnR>
                      <a:noFill/>
                    </a:lnR>
                    <a:lnT>
                      <a:noFill/>
                    </a:lnT>
                    <a:lnB>
                      <a:noFill/>
                    </a:lnB>
                    <a:noFill/>
                  </a:tcPr>
                </a:tc>
                <a:tc>
                  <a:txBody>
                    <a:bodyPr/>
                    <a:lstStyle/>
                    <a:p>
                      <a:pPr algn="r">
                        <a:buNone/>
                      </a:pPr>
                      <a:r>
                        <a:rPr lang="en-US" dirty="0">
                          <a:solidFill>
                            <a:schemeClr val="bg1"/>
                          </a:solidFill>
                        </a:rPr>
                        <a:t>0.6614</a:t>
                      </a:r>
                    </a:p>
                  </a:txBody>
                  <a:tcPr anchor="ctr">
                    <a:lnL>
                      <a:noFill/>
                    </a:lnL>
                    <a:lnR>
                      <a:noFill/>
                    </a:lnR>
                    <a:lnT>
                      <a:noFill/>
                    </a:lnT>
                    <a:lnB>
                      <a:noFill/>
                    </a:lnB>
                    <a:noFill/>
                  </a:tcPr>
                </a:tc>
                <a:tc>
                  <a:txBody>
                    <a:bodyPr/>
                    <a:lstStyle/>
                    <a:p>
                      <a:pPr algn="r">
                        <a:buNone/>
                      </a:pPr>
                      <a:r>
                        <a:rPr lang="en-US" dirty="0">
                          <a:solidFill>
                            <a:schemeClr val="bg1"/>
                          </a:solidFill>
                        </a:rPr>
                        <a:t>0.5804</a:t>
                      </a:r>
                    </a:p>
                  </a:txBody>
                  <a:tcPr anchor="ctr">
                    <a:lnL>
                      <a:noFill/>
                    </a:lnL>
                    <a:lnR>
                      <a:noFill/>
                    </a:lnR>
                    <a:lnT>
                      <a:noFill/>
                    </a:lnT>
                    <a:lnB>
                      <a:noFill/>
                    </a:lnB>
                    <a:noFill/>
                  </a:tcPr>
                </a:tc>
                <a:tc>
                  <a:txBody>
                    <a:bodyPr/>
                    <a:lstStyle/>
                    <a:p>
                      <a:pPr algn="r">
                        <a:buNone/>
                      </a:pPr>
                      <a:r>
                        <a:rPr lang="en-US" dirty="0">
                          <a:solidFill>
                            <a:schemeClr val="bg1"/>
                          </a:solidFill>
                        </a:rPr>
                        <a:t>1.140</a:t>
                      </a:r>
                    </a:p>
                  </a:txBody>
                  <a:tcPr anchor="ctr">
                    <a:lnL>
                      <a:noFill/>
                    </a:lnL>
                    <a:lnR>
                      <a:noFill/>
                    </a:lnR>
                    <a:lnT>
                      <a:noFill/>
                    </a:lnT>
                    <a:lnB>
                      <a:noFill/>
                    </a:lnB>
                    <a:noFill/>
                  </a:tcPr>
                </a:tc>
                <a:tc>
                  <a:txBody>
                    <a:bodyPr/>
                    <a:lstStyle/>
                    <a:p>
                      <a:pPr algn="r">
                        <a:buNone/>
                      </a:pPr>
                      <a:r>
                        <a:rPr lang="en-US" dirty="0">
                          <a:solidFill>
                            <a:schemeClr val="bg1"/>
                          </a:solidFill>
                        </a:rPr>
                        <a:t>0.2545</a:t>
                      </a:r>
                    </a:p>
                  </a:txBody>
                  <a:tcPr anchor="ctr">
                    <a:lnL>
                      <a:noFill/>
                    </a:lnL>
                    <a:lnR>
                      <a:noFill/>
                    </a:lnR>
                    <a:lnT>
                      <a:noFill/>
                    </a:lnT>
                    <a:lnB>
                      <a:noFill/>
                    </a:lnB>
                    <a:noFill/>
                  </a:tcPr>
                </a:tc>
                <a:extLst>
                  <a:ext uri="{0D108BD9-81ED-4DB2-BD59-A6C34878D82A}">
                    <a16:rowId xmlns:a16="http://schemas.microsoft.com/office/drawing/2014/main" val="2902693998"/>
                  </a:ext>
                </a:extLst>
              </a:tr>
              <a:tr h="475771">
                <a:tc>
                  <a:txBody>
                    <a:bodyPr/>
                    <a:lstStyle/>
                    <a:p>
                      <a:pPr>
                        <a:buNone/>
                      </a:pPr>
                      <a:r>
                        <a:rPr lang="en-US" dirty="0">
                          <a:solidFill>
                            <a:schemeClr val="bg1"/>
                          </a:solidFill>
                        </a:rPr>
                        <a:t>Condition (td)</a:t>
                      </a:r>
                    </a:p>
                  </a:txBody>
                  <a:tcPr anchor="ctr">
                    <a:lnL>
                      <a:noFill/>
                    </a:lnL>
                    <a:lnR>
                      <a:noFill/>
                    </a:lnR>
                    <a:lnT>
                      <a:noFill/>
                    </a:lnT>
                    <a:lnB>
                      <a:noFill/>
                    </a:lnB>
                    <a:noFill/>
                  </a:tcPr>
                </a:tc>
                <a:tc>
                  <a:txBody>
                    <a:bodyPr/>
                    <a:lstStyle/>
                    <a:p>
                      <a:pPr algn="r">
                        <a:buNone/>
                      </a:pPr>
                      <a:r>
                        <a:rPr lang="en-US" dirty="0">
                          <a:solidFill>
                            <a:schemeClr val="bg1"/>
                          </a:solidFill>
                        </a:rPr>
                        <a:t>−0.2161</a:t>
                      </a:r>
                    </a:p>
                  </a:txBody>
                  <a:tcPr anchor="ctr">
                    <a:lnL>
                      <a:noFill/>
                    </a:lnL>
                    <a:lnR>
                      <a:noFill/>
                    </a:lnR>
                    <a:lnT>
                      <a:noFill/>
                    </a:lnT>
                    <a:lnB>
                      <a:noFill/>
                    </a:lnB>
                    <a:noFill/>
                  </a:tcPr>
                </a:tc>
                <a:tc>
                  <a:txBody>
                    <a:bodyPr/>
                    <a:lstStyle/>
                    <a:p>
                      <a:pPr algn="r">
                        <a:buNone/>
                      </a:pPr>
                      <a:r>
                        <a:rPr lang="en-US" dirty="0">
                          <a:solidFill>
                            <a:schemeClr val="bg1"/>
                          </a:solidFill>
                        </a:rPr>
                        <a:t>0.9993</a:t>
                      </a:r>
                    </a:p>
                  </a:txBody>
                  <a:tcPr anchor="ctr">
                    <a:lnL>
                      <a:noFill/>
                    </a:lnL>
                    <a:lnR>
                      <a:noFill/>
                    </a:lnR>
                    <a:lnT>
                      <a:noFill/>
                    </a:lnT>
                    <a:lnB>
                      <a:noFill/>
                    </a:lnB>
                    <a:noFill/>
                  </a:tcPr>
                </a:tc>
                <a:tc>
                  <a:txBody>
                    <a:bodyPr/>
                    <a:lstStyle/>
                    <a:p>
                      <a:pPr algn="r">
                        <a:buNone/>
                      </a:pPr>
                      <a:r>
                        <a:rPr lang="en-US" dirty="0">
                          <a:solidFill>
                            <a:schemeClr val="bg1"/>
                          </a:solidFill>
                        </a:rPr>
                        <a:t>−0.216</a:t>
                      </a:r>
                    </a:p>
                  </a:txBody>
                  <a:tcPr anchor="ctr">
                    <a:lnL>
                      <a:noFill/>
                    </a:lnL>
                    <a:lnR>
                      <a:noFill/>
                    </a:lnR>
                    <a:lnT>
                      <a:noFill/>
                    </a:lnT>
                    <a:lnB>
                      <a:noFill/>
                    </a:lnB>
                    <a:noFill/>
                  </a:tcPr>
                </a:tc>
                <a:tc>
                  <a:txBody>
                    <a:bodyPr/>
                    <a:lstStyle/>
                    <a:p>
                      <a:pPr algn="r">
                        <a:buNone/>
                      </a:pPr>
                      <a:r>
                        <a:rPr lang="en-US" dirty="0">
                          <a:solidFill>
                            <a:schemeClr val="bg1"/>
                          </a:solidFill>
                        </a:rPr>
                        <a:t>0.8288</a:t>
                      </a:r>
                    </a:p>
                  </a:txBody>
                  <a:tcPr anchor="ctr">
                    <a:lnL>
                      <a:noFill/>
                    </a:lnL>
                    <a:lnR>
                      <a:noFill/>
                    </a:lnR>
                    <a:lnT>
                      <a:noFill/>
                    </a:lnT>
                    <a:lnB>
                      <a:noFill/>
                    </a:lnB>
                    <a:noFill/>
                  </a:tcPr>
                </a:tc>
                <a:extLst>
                  <a:ext uri="{0D108BD9-81ED-4DB2-BD59-A6C34878D82A}">
                    <a16:rowId xmlns:a16="http://schemas.microsoft.com/office/drawing/2014/main" val="3977932808"/>
                  </a:ext>
                </a:extLst>
              </a:tr>
              <a:tr h="475771">
                <a:tc>
                  <a:txBody>
                    <a:bodyPr/>
                    <a:lstStyle/>
                    <a:p>
                      <a:pPr>
                        <a:buNone/>
                      </a:pPr>
                      <a:r>
                        <a:rPr lang="en-US" dirty="0">
                          <a:solidFill>
                            <a:schemeClr val="bg1"/>
                          </a:solidFill>
                        </a:rPr>
                        <a:t>Condition (</a:t>
                      </a:r>
                      <a:r>
                        <a:rPr lang="en-US" err="1">
                          <a:solidFill>
                            <a:schemeClr val="bg1"/>
                          </a:solidFill>
                        </a:rPr>
                        <a:t>vc</a:t>
                      </a:r>
                      <a:r>
                        <a:rPr lang="en-US" dirty="0">
                          <a:solidFill>
                            <a:schemeClr val="bg1"/>
                          </a:solidFill>
                        </a:rPr>
                        <a:t>)</a:t>
                      </a:r>
                    </a:p>
                  </a:txBody>
                  <a:tcPr anchor="ctr">
                    <a:lnL>
                      <a:noFill/>
                    </a:lnL>
                    <a:lnR>
                      <a:noFill/>
                    </a:lnR>
                    <a:lnT>
                      <a:noFill/>
                    </a:lnT>
                    <a:lnB>
                      <a:noFill/>
                    </a:lnB>
                    <a:noFill/>
                  </a:tcPr>
                </a:tc>
                <a:tc>
                  <a:txBody>
                    <a:bodyPr/>
                    <a:lstStyle/>
                    <a:p>
                      <a:pPr algn="r">
                        <a:buNone/>
                      </a:pPr>
                      <a:r>
                        <a:rPr lang="en-US" dirty="0">
                          <a:solidFill>
                            <a:schemeClr val="bg1"/>
                          </a:solidFill>
                        </a:rPr>
                        <a:t>−0.5950</a:t>
                      </a:r>
                    </a:p>
                  </a:txBody>
                  <a:tcPr anchor="ctr">
                    <a:lnL>
                      <a:noFill/>
                    </a:lnL>
                    <a:lnR>
                      <a:noFill/>
                    </a:lnR>
                    <a:lnT>
                      <a:noFill/>
                    </a:lnT>
                    <a:lnB>
                      <a:noFill/>
                    </a:lnB>
                    <a:noFill/>
                  </a:tcPr>
                </a:tc>
                <a:tc>
                  <a:txBody>
                    <a:bodyPr/>
                    <a:lstStyle/>
                    <a:p>
                      <a:pPr algn="r">
                        <a:buNone/>
                      </a:pPr>
                      <a:r>
                        <a:rPr lang="en-US" dirty="0">
                          <a:solidFill>
                            <a:schemeClr val="bg1"/>
                          </a:solidFill>
                        </a:rPr>
                        <a:t>1.4958</a:t>
                      </a:r>
                    </a:p>
                  </a:txBody>
                  <a:tcPr anchor="ctr">
                    <a:lnL>
                      <a:noFill/>
                    </a:lnL>
                    <a:lnR>
                      <a:noFill/>
                    </a:lnR>
                    <a:lnT>
                      <a:noFill/>
                    </a:lnT>
                    <a:lnB>
                      <a:noFill/>
                    </a:lnB>
                    <a:noFill/>
                  </a:tcPr>
                </a:tc>
                <a:tc>
                  <a:txBody>
                    <a:bodyPr/>
                    <a:lstStyle/>
                    <a:p>
                      <a:pPr algn="r">
                        <a:buNone/>
                      </a:pPr>
                      <a:r>
                        <a:rPr lang="en-US" dirty="0">
                          <a:solidFill>
                            <a:schemeClr val="bg1"/>
                          </a:solidFill>
                        </a:rPr>
                        <a:t>−0.398</a:t>
                      </a:r>
                    </a:p>
                  </a:txBody>
                  <a:tcPr anchor="ctr">
                    <a:lnL>
                      <a:noFill/>
                    </a:lnL>
                    <a:lnR>
                      <a:noFill/>
                    </a:lnR>
                    <a:lnT>
                      <a:noFill/>
                    </a:lnT>
                    <a:lnB>
                      <a:noFill/>
                    </a:lnB>
                    <a:noFill/>
                  </a:tcPr>
                </a:tc>
                <a:tc>
                  <a:txBody>
                    <a:bodyPr/>
                    <a:lstStyle/>
                    <a:p>
                      <a:pPr algn="r">
                        <a:buNone/>
                      </a:pPr>
                      <a:r>
                        <a:rPr lang="en-US" dirty="0">
                          <a:solidFill>
                            <a:schemeClr val="bg1"/>
                          </a:solidFill>
                        </a:rPr>
                        <a:t>0.6908</a:t>
                      </a:r>
                    </a:p>
                  </a:txBody>
                  <a:tcPr anchor="ctr">
                    <a:lnL>
                      <a:noFill/>
                    </a:lnL>
                    <a:lnR>
                      <a:noFill/>
                    </a:lnR>
                    <a:lnT>
                      <a:noFill/>
                    </a:lnT>
                    <a:lnB>
                      <a:noFill/>
                    </a:lnB>
                    <a:noFill/>
                  </a:tcPr>
                </a:tc>
                <a:extLst>
                  <a:ext uri="{0D108BD9-81ED-4DB2-BD59-A6C34878D82A}">
                    <a16:rowId xmlns:a16="http://schemas.microsoft.com/office/drawing/2014/main" val="1228004878"/>
                  </a:ext>
                </a:extLst>
              </a:tr>
              <a:tr h="475771">
                <a:tc>
                  <a:txBody>
                    <a:bodyPr/>
                    <a:lstStyle/>
                    <a:p>
                      <a:pPr>
                        <a:buNone/>
                      </a:pPr>
                      <a:r>
                        <a:rPr lang="en-US" dirty="0">
                          <a:solidFill>
                            <a:schemeClr val="bg1"/>
                          </a:solidFill>
                        </a:rPr>
                        <a:t>Condition (</a:t>
                      </a:r>
                      <a:r>
                        <a:rPr lang="en-US" err="1">
                          <a:solidFill>
                            <a:schemeClr val="bg1"/>
                          </a:solidFill>
                        </a:rPr>
                        <a:t>vc</a:t>
                      </a:r>
                      <a:r>
                        <a:rPr lang="en-US" dirty="0">
                          <a:solidFill>
                            <a:schemeClr val="bg1"/>
                          </a:solidFill>
                        </a:rPr>
                        <a:t>/md4)</a:t>
                      </a:r>
                    </a:p>
                  </a:txBody>
                  <a:tcPr anchor="ctr">
                    <a:lnL>
                      <a:noFill/>
                    </a:lnL>
                    <a:lnR>
                      <a:noFill/>
                    </a:lnR>
                    <a:lnT>
                      <a:noFill/>
                    </a:lnT>
                    <a:lnB>
                      <a:noFill/>
                    </a:lnB>
                    <a:noFill/>
                  </a:tcPr>
                </a:tc>
                <a:tc>
                  <a:txBody>
                    <a:bodyPr/>
                    <a:lstStyle/>
                    <a:p>
                      <a:pPr algn="r">
                        <a:buNone/>
                      </a:pPr>
                      <a:r>
                        <a:rPr lang="en-US" dirty="0">
                          <a:solidFill>
                            <a:schemeClr val="bg1"/>
                          </a:solidFill>
                        </a:rPr>
                        <a:t>−1.1803</a:t>
                      </a:r>
                    </a:p>
                  </a:txBody>
                  <a:tcPr anchor="ctr">
                    <a:lnL>
                      <a:noFill/>
                    </a:lnL>
                    <a:lnR>
                      <a:noFill/>
                    </a:lnR>
                    <a:lnT>
                      <a:noFill/>
                    </a:lnT>
                    <a:lnB>
                      <a:noFill/>
                    </a:lnB>
                    <a:noFill/>
                  </a:tcPr>
                </a:tc>
                <a:tc>
                  <a:txBody>
                    <a:bodyPr/>
                    <a:lstStyle/>
                    <a:p>
                      <a:pPr algn="r">
                        <a:buNone/>
                      </a:pPr>
                      <a:r>
                        <a:rPr lang="en-US" err="1">
                          <a:solidFill>
                            <a:schemeClr val="bg1"/>
                          </a:solidFill>
                        </a:rPr>
                        <a:t>NaN</a:t>
                      </a:r>
                      <a:endParaRPr lang="en-US" dirty="0" err="1">
                        <a:solidFill>
                          <a:schemeClr val="bg1"/>
                        </a:solidFill>
                      </a:endParaRPr>
                    </a:p>
                  </a:txBody>
                  <a:tcPr anchor="ctr">
                    <a:lnL>
                      <a:noFill/>
                    </a:lnL>
                    <a:lnR>
                      <a:noFill/>
                    </a:lnR>
                    <a:lnT>
                      <a:noFill/>
                    </a:lnT>
                    <a:lnB>
                      <a:noFill/>
                    </a:lnB>
                    <a:noFill/>
                  </a:tcPr>
                </a:tc>
                <a:tc>
                  <a:txBody>
                    <a:bodyPr/>
                    <a:lstStyle/>
                    <a:p>
                      <a:pPr algn="r">
                        <a:buNone/>
                      </a:pPr>
                      <a:r>
                        <a:rPr lang="en-US" err="1">
                          <a:solidFill>
                            <a:schemeClr val="bg1"/>
                          </a:solidFill>
                        </a:rPr>
                        <a:t>NaN</a:t>
                      </a:r>
                      <a:endParaRPr lang="en-US" dirty="0" err="1">
                        <a:solidFill>
                          <a:schemeClr val="bg1"/>
                        </a:solidFill>
                      </a:endParaRPr>
                    </a:p>
                  </a:txBody>
                  <a:tcPr anchor="ctr">
                    <a:lnL>
                      <a:noFill/>
                    </a:lnL>
                    <a:lnR>
                      <a:noFill/>
                    </a:lnR>
                    <a:lnT>
                      <a:noFill/>
                    </a:lnT>
                    <a:lnB>
                      <a:noFill/>
                    </a:lnB>
                    <a:noFill/>
                  </a:tcPr>
                </a:tc>
                <a:tc>
                  <a:txBody>
                    <a:bodyPr/>
                    <a:lstStyle/>
                    <a:p>
                      <a:pPr algn="r">
                        <a:buNone/>
                      </a:pPr>
                      <a:r>
                        <a:rPr lang="en-US" err="1">
                          <a:solidFill>
                            <a:schemeClr val="bg1"/>
                          </a:solidFill>
                        </a:rPr>
                        <a:t>NaN</a:t>
                      </a:r>
                      <a:endParaRPr lang="en-US" dirty="0" err="1">
                        <a:solidFill>
                          <a:schemeClr val="bg1"/>
                        </a:solidFill>
                      </a:endParaRPr>
                    </a:p>
                  </a:txBody>
                  <a:tcPr anchor="ctr">
                    <a:lnL>
                      <a:noFill/>
                    </a:lnL>
                    <a:lnR>
                      <a:noFill/>
                    </a:lnR>
                    <a:lnT>
                      <a:noFill/>
                    </a:lnT>
                    <a:lnB>
                      <a:noFill/>
                    </a:lnB>
                    <a:noFill/>
                  </a:tcPr>
                </a:tc>
                <a:extLst>
                  <a:ext uri="{0D108BD9-81ED-4DB2-BD59-A6C34878D82A}">
                    <a16:rowId xmlns:a16="http://schemas.microsoft.com/office/drawing/2014/main" val="1313169844"/>
                  </a:ext>
                </a:extLst>
              </a:tr>
              <a:tr h="475771">
                <a:tc>
                  <a:txBody>
                    <a:bodyPr/>
                    <a:lstStyle/>
                    <a:p>
                      <a:pPr>
                        <a:buNone/>
                      </a:pPr>
                      <a:r>
                        <a:rPr lang="en-US" dirty="0">
                          <a:solidFill>
                            <a:schemeClr val="bg1"/>
                          </a:solidFill>
                        </a:rPr>
                        <a:t>Condition (</a:t>
                      </a:r>
                      <a:r>
                        <a:rPr lang="en-US" err="1">
                          <a:solidFill>
                            <a:schemeClr val="bg1"/>
                          </a:solidFill>
                        </a:rPr>
                        <a:t>vc</a:t>
                      </a:r>
                      <a:r>
                        <a:rPr lang="en-US" dirty="0">
                          <a:solidFill>
                            <a:schemeClr val="bg1"/>
                          </a:solidFill>
                        </a:rPr>
                        <a:t>/md5)</a:t>
                      </a:r>
                    </a:p>
                  </a:txBody>
                  <a:tcPr anchor="ctr">
                    <a:lnL>
                      <a:noFill/>
                    </a:lnL>
                    <a:lnR>
                      <a:noFill/>
                    </a:lnR>
                    <a:lnT>
                      <a:noFill/>
                    </a:lnT>
                    <a:lnB>
                      <a:noFill/>
                    </a:lnB>
                    <a:noFill/>
                  </a:tcPr>
                </a:tc>
                <a:tc>
                  <a:txBody>
                    <a:bodyPr/>
                    <a:lstStyle/>
                    <a:p>
                      <a:pPr algn="r">
                        <a:buNone/>
                      </a:pPr>
                      <a:r>
                        <a:rPr lang="en-US" dirty="0">
                          <a:solidFill>
                            <a:schemeClr val="bg1"/>
                          </a:solidFill>
                        </a:rPr>
                        <a:t>0.4370</a:t>
                      </a:r>
                    </a:p>
                  </a:txBody>
                  <a:tcPr anchor="ctr">
                    <a:lnL>
                      <a:noFill/>
                    </a:lnL>
                    <a:lnR>
                      <a:noFill/>
                    </a:lnR>
                    <a:lnT>
                      <a:noFill/>
                    </a:lnT>
                    <a:lnB>
                      <a:noFill/>
                    </a:lnB>
                    <a:noFill/>
                  </a:tcPr>
                </a:tc>
                <a:tc>
                  <a:txBody>
                    <a:bodyPr/>
                    <a:lstStyle/>
                    <a:p>
                      <a:pPr algn="r">
                        <a:buNone/>
                      </a:pPr>
                      <a:r>
                        <a:rPr lang="en-US" dirty="0">
                          <a:solidFill>
                            <a:schemeClr val="bg1"/>
                          </a:solidFill>
                        </a:rPr>
                        <a:t>1.8389</a:t>
                      </a:r>
                    </a:p>
                  </a:txBody>
                  <a:tcPr anchor="ctr">
                    <a:lnL>
                      <a:noFill/>
                    </a:lnL>
                    <a:lnR>
                      <a:noFill/>
                    </a:lnR>
                    <a:lnT>
                      <a:noFill/>
                    </a:lnT>
                    <a:lnB>
                      <a:noFill/>
                    </a:lnB>
                    <a:noFill/>
                  </a:tcPr>
                </a:tc>
                <a:tc>
                  <a:txBody>
                    <a:bodyPr/>
                    <a:lstStyle/>
                    <a:p>
                      <a:pPr algn="r">
                        <a:buNone/>
                      </a:pPr>
                      <a:r>
                        <a:rPr lang="en-US" dirty="0">
                          <a:solidFill>
                            <a:schemeClr val="bg1"/>
                          </a:solidFill>
                        </a:rPr>
                        <a:t>0.238</a:t>
                      </a:r>
                    </a:p>
                  </a:txBody>
                  <a:tcPr anchor="ctr">
                    <a:lnL>
                      <a:noFill/>
                    </a:lnL>
                    <a:lnR>
                      <a:noFill/>
                    </a:lnR>
                    <a:lnT>
                      <a:noFill/>
                    </a:lnT>
                    <a:lnB>
                      <a:noFill/>
                    </a:lnB>
                    <a:noFill/>
                  </a:tcPr>
                </a:tc>
                <a:tc>
                  <a:txBody>
                    <a:bodyPr/>
                    <a:lstStyle/>
                    <a:p>
                      <a:pPr algn="r">
                        <a:buNone/>
                      </a:pPr>
                      <a:r>
                        <a:rPr lang="en-US" dirty="0">
                          <a:solidFill>
                            <a:schemeClr val="bg1"/>
                          </a:solidFill>
                        </a:rPr>
                        <a:t>0.8122</a:t>
                      </a:r>
                    </a:p>
                  </a:txBody>
                  <a:tcPr anchor="ctr">
                    <a:lnL>
                      <a:noFill/>
                    </a:lnL>
                    <a:lnR>
                      <a:noFill/>
                    </a:lnR>
                    <a:lnT>
                      <a:noFill/>
                    </a:lnT>
                    <a:lnB>
                      <a:noFill/>
                    </a:lnB>
                    <a:noFill/>
                  </a:tcPr>
                </a:tc>
                <a:extLst>
                  <a:ext uri="{0D108BD9-81ED-4DB2-BD59-A6C34878D82A}">
                    <a16:rowId xmlns:a16="http://schemas.microsoft.com/office/drawing/2014/main" val="1424091968"/>
                  </a:ext>
                </a:extLst>
              </a:tr>
              <a:tr h="475771">
                <a:tc>
                  <a:txBody>
                    <a:bodyPr/>
                    <a:lstStyle/>
                    <a:p>
                      <a:pPr>
                        <a:buNone/>
                      </a:pPr>
                      <a:r>
                        <a:rPr lang="en-US" dirty="0">
                          <a:solidFill>
                            <a:schemeClr val="bg1"/>
                          </a:solidFill>
                        </a:rPr>
                        <a:t>Condition (</a:t>
                      </a:r>
                      <a:r>
                        <a:rPr lang="en-US" err="1">
                          <a:solidFill>
                            <a:schemeClr val="bg1"/>
                          </a:solidFill>
                        </a:rPr>
                        <a:t>vo</a:t>
                      </a:r>
                      <a:r>
                        <a:rPr lang="en-US" dirty="0">
                          <a:solidFill>
                            <a:schemeClr val="bg1"/>
                          </a:solidFill>
                        </a:rPr>
                        <a:t>)</a:t>
                      </a:r>
                    </a:p>
                  </a:txBody>
                  <a:tcPr anchor="ctr">
                    <a:lnL>
                      <a:noFill/>
                    </a:lnL>
                    <a:lnR>
                      <a:noFill/>
                    </a:lnR>
                    <a:lnT>
                      <a:noFill/>
                    </a:lnT>
                    <a:lnB>
                      <a:noFill/>
                    </a:lnB>
                    <a:noFill/>
                  </a:tcPr>
                </a:tc>
                <a:tc>
                  <a:txBody>
                    <a:bodyPr/>
                    <a:lstStyle/>
                    <a:p>
                      <a:pPr algn="r">
                        <a:buNone/>
                      </a:pPr>
                      <a:r>
                        <a:rPr lang="en-US" dirty="0">
                          <a:solidFill>
                            <a:schemeClr val="bg1"/>
                          </a:solidFill>
                        </a:rPr>
                        <a:t>−1.2697</a:t>
                      </a:r>
                    </a:p>
                  </a:txBody>
                  <a:tcPr anchor="ctr">
                    <a:lnL>
                      <a:noFill/>
                    </a:lnL>
                    <a:lnR>
                      <a:noFill/>
                    </a:lnR>
                    <a:lnT>
                      <a:noFill/>
                    </a:lnT>
                    <a:lnB>
                      <a:noFill/>
                    </a:lnB>
                    <a:noFill/>
                  </a:tcPr>
                </a:tc>
                <a:tc>
                  <a:txBody>
                    <a:bodyPr/>
                    <a:lstStyle/>
                    <a:p>
                      <a:pPr algn="r">
                        <a:buNone/>
                      </a:pPr>
                      <a:r>
                        <a:rPr lang="en-US" dirty="0">
                          <a:solidFill>
                            <a:schemeClr val="bg1"/>
                          </a:solidFill>
                        </a:rPr>
                        <a:t>1.3431</a:t>
                      </a:r>
                    </a:p>
                  </a:txBody>
                  <a:tcPr anchor="ctr">
                    <a:lnL>
                      <a:noFill/>
                    </a:lnL>
                    <a:lnR>
                      <a:noFill/>
                    </a:lnR>
                    <a:lnT>
                      <a:noFill/>
                    </a:lnT>
                    <a:lnB>
                      <a:noFill/>
                    </a:lnB>
                    <a:noFill/>
                  </a:tcPr>
                </a:tc>
                <a:tc>
                  <a:txBody>
                    <a:bodyPr/>
                    <a:lstStyle/>
                    <a:p>
                      <a:pPr algn="r">
                        <a:buNone/>
                      </a:pPr>
                      <a:r>
                        <a:rPr lang="en-US" dirty="0">
                          <a:solidFill>
                            <a:schemeClr val="bg1"/>
                          </a:solidFill>
                        </a:rPr>
                        <a:t>−0.945</a:t>
                      </a:r>
                    </a:p>
                  </a:txBody>
                  <a:tcPr anchor="ctr">
                    <a:lnL>
                      <a:noFill/>
                    </a:lnL>
                    <a:lnR>
                      <a:noFill/>
                    </a:lnR>
                    <a:lnT>
                      <a:noFill/>
                    </a:lnT>
                    <a:lnB>
                      <a:noFill/>
                    </a:lnB>
                    <a:noFill/>
                  </a:tcPr>
                </a:tc>
                <a:tc>
                  <a:txBody>
                    <a:bodyPr/>
                    <a:lstStyle/>
                    <a:p>
                      <a:pPr algn="r">
                        <a:buNone/>
                      </a:pPr>
                      <a:r>
                        <a:rPr lang="en-US" dirty="0">
                          <a:solidFill>
                            <a:schemeClr val="bg1"/>
                          </a:solidFill>
                        </a:rPr>
                        <a:t>0.3445</a:t>
                      </a:r>
                    </a:p>
                  </a:txBody>
                  <a:tcPr anchor="ctr">
                    <a:lnL>
                      <a:noFill/>
                    </a:lnL>
                    <a:lnR>
                      <a:noFill/>
                    </a:lnR>
                    <a:lnT>
                      <a:noFill/>
                    </a:lnT>
                    <a:lnB>
                      <a:noFill/>
                    </a:lnB>
                    <a:noFill/>
                  </a:tcPr>
                </a:tc>
                <a:extLst>
                  <a:ext uri="{0D108BD9-81ED-4DB2-BD59-A6C34878D82A}">
                    <a16:rowId xmlns:a16="http://schemas.microsoft.com/office/drawing/2014/main" val="2295131722"/>
                  </a:ext>
                </a:extLst>
              </a:tr>
              <a:tr h="475771">
                <a:tc>
                  <a:txBody>
                    <a:bodyPr/>
                    <a:lstStyle/>
                    <a:p>
                      <a:pPr>
                        <a:buNone/>
                      </a:pPr>
                      <a:r>
                        <a:rPr lang="en-US" dirty="0">
                          <a:solidFill>
                            <a:schemeClr val="bg1"/>
                          </a:solidFill>
                        </a:rPr>
                        <a:t>Condition (</a:t>
                      </a:r>
                      <a:r>
                        <a:rPr lang="en-US" err="1">
                          <a:solidFill>
                            <a:schemeClr val="bg1"/>
                          </a:solidFill>
                        </a:rPr>
                        <a:t>vo</a:t>
                      </a:r>
                      <a:r>
                        <a:rPr lang="en-US" dirty="0">
                          <a:solidFill>
                            <a:schemeClr val="bg1"/>
                          </a:solidFill>
                        </a:rPr>
                        <a:t>/md4)</a:t>
                      </a:r>
                    </a:p>
                  </a:txBody>
                  <a:tcPr anchor="ctr">
                    <a:lnL>
                      <a:noFill/>
                    </a:lnL>
                    <a:lnR>
                      <a:noFill/>
                    </a:lnR>
                    <a:lnT>
                      <a:noFill/>
                    </a:lnT>
                    <a:lnB>
                      <a:noFill/>
                    </a:lnB>
                    <a:noFill/>
                  </a:tcPr>
                </a:tc>
                <a:tc>
                  <a:txBody>
                    <a:bodyPr/>
                    <a:lstStyle/>
                    <a:p>
                      <a:pPr algn="r">
                        <a:buNone/>
                      </a:pPr>
                      <a:r>
                        <a:rPr lang="en-US" dirty="0">
                          <a:solidFill>
                            <a:schemeClr val="bg1"/>
                          </a:solidFill>
                        </a:rPr>
                        <a:t>−38.0380</a:t>
                      </a:r>
                    </a:p>
                  </a:txBody>
                  <a:tcPr anchor="ctr">
                    <a:lnL>
                      <a:noFill/>
                    </a:lnL>
                    <a:lnR>
                      <a:noFill/>
                    </a:lnR>
                    <a:lnT>
                      <a:noFill/>
                    </a:lnT>
                    <a:lnB>
                      <a:noFill/>
                    </a:lnB>
                    <a:noFill/>
                  </a:tcPr>
                </a:tc>
                <a:tc>
                  <a:txBody>
                    <a:bodyPr/>
                    <a:lstStyle/>
                    <a:p>
                      <a:pPr algn="r">
                        <a:buNone/>
                      </a:pPr>
                      <a:r>
                        <a:rPr lang="en-US" err="1">
                          <a:solidFill>
                            <a:schemeClr val="bg1"/>
                          </a:solidFill>
                        </a:rPr>
                        <a:t>NaN</a:t>
                      </a:r>
                      <a:endParaRPr lang="en-US" dirty="0" err="1">
                        <a:solidFill>
                          <a:schemeClr val="bg1"/>
                        </a:solidFill>
                      </a:endParaRPr>
                    </a:p>
                  </a:txBody>
                  <a:tcPr anchor="ctr">
                    <a:lnL>
                      <a:noFill/>
                    </a:lnL>
                    <a:lnR>
                      <a:noFill/>
                    </a:lnR>
                    <a:lnT>
                      <a:noFill/>
                    </a:lnT>
                    <a:lnB>
                      <a:noFill/>
                    </a:lnB>
                    <a:noFill/>
                  </a:tcPr>
                </a:tc>
                <a:tc>
                  <a:txBody>
                    <a:bodyPr/>
                    <a:lstStyle/>
                    <a:p>
                      <a:pPr algn="r">
                        <a:buNone/>
                      </a:pPr>
                      <a:r>
                        <a:rPr lang="en-US" err="1">
                          <a:solidFill>
                            <a:schemeClr val="bg1"/>
                          </a:solidFill>
                        </a:rPr>
                        <a:t>NaN</a:t>
                      </a:r>
                      <a:endParaRPr lang="en-US" dirty="0" err="1">
                        <a:solidFill>
                          <a:schemeClr val="bg1"/>
                        </a:solidFill>
                      </a:endParaRPr>
                    </a:p>
                  </a:txBody>
                  <a:tcPr anchor="ctr">
                    <a:lnL>
                      <a:noFill/>
                    </a:lnL>
                    <a:lnR>
                      <a:noFill/>
                    </a:lnR>
                    <a:lnT>
                      <a:noFill/>
                    </a:lnT>
                    <a:lnB>
                      <a:noFill/>
                    </a:lnB>
                    <a:noFill/>
                  </a:tcPr>
                </a:tc>
                <a:tc>
                  <a:txBody>
                    <a:bodyPr/>
                    <a:lstStyle/>
                    <a:p>
                      <a:pPr algn="r">
                        <a:buNone/>
                      </a:pPr>
                      <a:r>
                        <a:rPr lang="en-US" err="1">
                          <a:solidFill>
                            <a:schemeClr val="bg1"/>
                          </a:solidFill>
                        </a:rPr>
                        <a:t>NaN</a:t>
                      </a:r>
                      <a:endParaRPr lang="en-US" dirty="0" err="1">
                        <a:solidFill>
                          <a:schemeClr val="bg1"/>
                        </a:solidFill>
                      </a:endParaRPr>
                    </a:p>
                  </a:txBody>
                  <a:tcPr anchor="ctr">
                    <a:lnL>
                      <a:noFill/>
                    </a:lnL>
                    <a:lnR>
                      <a:noFill/>
                    </a:lnR>
                    <a:lnT>
                      <a:noFill/>
                    </a:lnT>
                    <a:lnB>
                      <a:noFill/>
                    </a:lnB>
                    <a:noFill/>
                  </a:tcPr>
                </a:tc>
                <a:extLst>
                  <a:ext uri="{0D108BD9-81ED-4DB2-BD59-A6C34878D82A}">
                    <a16:rowId xmlns:a16="http://schemas.microsoft.com/office/drawing/2014/main" val="3563394919"/>
                  </a:ext>
                </a:extLst>
              </a:tr>
              <a:tr h="475771">
                <a:tc>
                  <a:txBody>
                    <a:bodyPr/>
                    <a:lstStyle/>
                    <a:p>
                      <a:pPr>
                        <a:buNone/>
                      </a:pPr>
                      <a:r>
                        <a:rPr lang="en-US" dirty="0">
                          <a:solidFill>
                            <a:schemeClr val="bg1"/>
                          </a:solidFill>
                        </a:rPr>
                        <a:t>Condition (</a:t>
                      </a:r>
                      <a:r>
                        <a:rPr lang="en-US" dirty="0" err="1">
                          <a:solidFill>
                            <a:schemeClr val="bg1"/>
                          </a:solidFill>
                        </a:rPr>
                        <a:t>vo</a:t>
                      </a:r>
                      <a:r>
                        <a:rPr lang="en-US" dirty="0">
                          <a:solidFill>
                            <a:schemeClr val="bg1"/>
                          </a:solidFill>
                        </a:rPr>
                        <a:t>/md6)</a:t>
                      </a:r>
                    </a:p>
                  </a:txBody>
                  <a:tcPr anchor="ctr">
                    <a:lnL>
                      <a:noFill/>
                    </a:lnL>
                    <a:lnR>
                      <a:noFill/>
                    </a:lnR>
                    <a:lnT>
                      <a:noFill/>
                    </a:lnT>
                    <a:lnB>
                      <a:noFill/>
                    </a:lnB>
                    <a:noFill/>
                  </a:tcPr>
                </a:tc>
                <a:tc>
                  <a:txBody>
                    <a:bodyPr/>
                    <a:lstStyle/>
                    <a:p>
                      <a:pPr algn="r">
                        <a:buNone/>
                      </a:pPr>
                      <a:r>
                        <a:rPr lang="en-US" dirty="0">
                          <a:solidFill>
                            <a:schemeClr val="bg1"/>
                          </a:solidFill>
                        </a:rPr>
                        <a:t>−0.3016</a:t>
                      </a:r>
                    </a:p>
                  </a:txBody>
                  <a:tcPr anchor="ctr">
                    <a:lnL>
                      <a:noFill/>
                    </a:lnL>
                    <a:lnR>
                      <a:noFill/>
                    </a:lnR>
                    <a:lnT>
                      <a:noFill/>
                    </a:lnT>
                    <a:lnB>
                      <a:noFill/>
                    </a:lnB>
                    <a:noFill/>
                  </a:tcPr>
                </a:tc>
                <a:tc>
                  <a:txBody>
                    <a:bodyPr/>
                    <a:lstStyle/>
                    <a:p>
                      <a:pPr algn="r">
                        <a:buNone/>
                      </a:pPr>
                      <a:r>
                        <a:rPr lang="en-US" dirty="0">
                          <a:solidFill>
                            <a:schemeClr val="bg1"/>
                          </a:solidFill>
                        </a:rPr>
                        <a:t>1.5506</a:t>
                      </a:r>
                    </a:p>
                  </a:txBody>
                  <a:tcPr anchor="ctr">
                    <a:lnL>
                      <a:noFill/>
                    </a:lnL>
                    <a:lnR>
                      <a:noFill/>
                    </a:lnR>
                    <a:lnT>
                      <a:noFill/>
                    </a:lnT>
                    <a:lnB>
                      <a:noFill/>
                    </a:lnB>
                    <a:noFill/>
                  </a:tcPr>
                </a:tc>
                <a:tc>
                  <a:txBody>
                    <a:bodyPr/>
                    <a:lstStyle/>
                    <a:p>
                      <a:pPr algn="r">
                        <a:buNone/>
                      </a:pPr>
                      <a:r>
                        <a:rPr lang="en-US" dirty="0">
                          <a:solidFill>
                            <a:schemeClr val="bg1"/>
                          </a:solidFill>
                        </a:rPr>
                        <a:t>−0.194</a:t>
                      </a:r>
                    </a:p>
                  </a:txBody>
                  <a:tcPr anchor="ctr">
                    <a:lnL>
                      <a:noFill/>
                    </a:lnL>
                    <a:lnR>
                      <a:noFill/>
                    </a:lnR>
                    <a:lnT>
                      <a:noFill/>
                    </a:lnT>
                    <a:lnB>
                      <a:noFill/>
                    </a:lnB>
                    <a:noFill/>
                  </a:tcPr>
                </a:tc>
                <a:tc>
                  <a:txBody>
                    <a:bodyPr/>
                    <a:lstStyle/>
                    <a:p>
                      <a:pPr algn="r">
                        <a:buNone/>
                      </a:pPr>
                      <a:r>
                        <a:rPr lang="en-US" dirty="0">
                          <a:solidFill>
                            <a:schemeClr val="bg1"/>
                          </a:solidFill>
                        </a:rPr>
                        <a:t>0.8458</a:t>
                      </a:r>
                    </a:p>
                  </a:txBody>
                  <a:tcPr anchor="ctr">
                    <a:lnL>
                      <a:noFill/>
                    </a:lnL>
                    <a:lnR>
                      <a:noFill/>
                    </a:lnR>
                    <a:lnT>
                      <a:noFill/>
                    </a:lnT>
                    <a:lnB>
                      <a:noFill/>
                    </a:lnB>
                    <a:noFill/>
                  </a:tcPr>
                </a:tc>
                <a:extLst>
                  <a:ext uri="{0D108BD9-81ED-4DB2-BD59-A6C34878D82A}">
                    <a16:rowId xmlns:a16="http://schemas.microsoft.com/office/drawing/2014/main" val="3236229557"/>
                  </a:ext>
                </a:extLst>
              </a:tr>
            </a:tbl>
          </a:graphicData>
        </a:graphic>
      </p:graphicFrame>
      <p:sp>
        <p:nvSpPr>
          <p:cNvPr id="7" name="TextBox 6">
            <a:extLst>
              <a:ext uri="{FF2B5EF4-FFF2-40B4-BE49-F238E27FC236}">
                <a16:creationId xmlns:a16="http://schemas.microsoft.com/office/drawing/2014/main" id="{31C05CED-2D43-7E7E-0583-FFADE24989E4}"/>
              </a:ext>
            </a:extLst>
          </p:cNvPr>
          <p:cNvSpPr txBox="1"/>
          <p:nvPr/>
        </p:nvSpPr>
        <p:spPr>
          <a:xfrm>
            <a:off x="236938" y="403448"/>
            <a:ext cx="424841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Conditional Model</a:t>
            </a:r>
          </a:p>
          <a:p>
            <a:pPr marL="285750" indent="-285750">
              <a:buFont typeface="Arial"/>
              <a:buChar char="•"/>
            </a:pPr>
            <a:r>
              <a:rPr lang="en-US" dirty="0">
                <a:solidFill>
                  <a:schemeClr val="bg1"/>
                </a:solidFill>
              </a:rPr>
              <a:t>This was the first part of my double hurdle model which unfortunately did not work very well as you can see from the NAN values</a:t>
            </a:r>
          </a:p>
          <a:p>
            <a:pPr marL="285750" indent="-285750">
              <a:buFont typeface="Arial"/>
              <a:buChar char="•"/>
            </a:pPr>
            <a:endParaRPr lang="en-US" dirty="0">
              <a:solidFill>
                <a:schemeClr val="bg1"/>
              </a:solidFill>
            </a:endParaRPr>
          </a:p>
          <a:p>
            <a:pPr marL="285750" indent="-285750">
              <a:buFont typeface="Arial"/>
              <a:buChar char="•"/>
            </a:pPr>
            <a:r>
              <a:rPr lang="en-US" dirty="0">
                <a:solidFill>
                  <a:schemeClr val="bg1"/>
                </a:solidFill>
              </a:rPr>
              <a:t>This is because many of the variables I was looking at had many 0 values which kept them from being processed well in this model</a:t>
            </a:r>
          </a:p>
          <a:p>
            <a:pPr marL="285750" indent="-285750">
              <a:buFont typeface="Arial"/>
              <a:buChar char="•"/>
            </a:pPr>
            <a:endParaRPr lang="en-US" dirty="0">
              <a:solidFill>
                <a:schemeClr val="bg1"/>
              </a:solidFill>
            </a:endParaRPr>
          </a:p>
          <a:p>
            <a:pPr marL="285750" indent="-285750">
              <a:buFont typeface="Arial"/>
              <a:buChar char="•"/>
            </a:pPr>
            <a:r>
              <a:rPr lang="en-US" dirty="0">
                <a:solidFill>
                  <a:schemeClr val="bg1"/>
                </a:solidFill>
              </a:rPr>
              <a:t>For the ones that did work there was no relationship between them and recaptures as you can see from the high p-values</a:t>
            </a:r>
          </a:p>
        </p:txBody>
      </p:sp>
    </p:spTree>
    <p:extLst>
      <p:ext uri="{BB962C8B-B14F-4D97-AF65-F5344CB8AC3E}">
        <p14:creationId xmlns:p14="http://schemas.microsoft.com/office/powerpoint/2010/main" val="1669436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0A5F0-2FBF-9D9A-3713-15BC9FF77E8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2AD4B7-E005-F5FA-2348-89425B5B3486}"/>
              </a:ext>
            </a:extLst>
          </p:cNvPr>
          <p:cNvSpPr/>
          <p:nvPr/>
        </p:nvSpPr>
        <p:spPr>
          <a:xfrm>
            <a:off x="-1260" y="-1636"/>
            <a:ext cx="12193258" cy="6857119"/>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dirty="0"/>
          </a:p>
        </p:txBody>
      </p:sp>
      <p:graphicFrame>
        <p:nvGraphicFramePr>
          <p:cNvPr id="3" name="Table 2">
            <a:extLst>
              <a:ext uri="{FF2B5EF4-FFF2-40B4-BE49-F238E27FC236}">
                <a16:creationId xmlns:a16="http://schemas.microsoft.com/office/drawing/2014/main" id="{DC3983F7-ED0D-DEC9-554A-61D66BC81A1C}"/>
              </a:ext>
            </a:extLst>
          </p:cNvPr>
          <p:cNvGraphicFramePr>
            <a:graphicFrameLocks noGrp="1"/>
          </p:cNvGraphicFramePr>
          <p:nvPr>
            <p:extLst>
              <p:ext uri="{D42A27DB-BD31-4B8C-83A1-F6EECF244321}">
                <p14:modId xmlns:p14="http://schemas.microsoft.com/office/powerpoint/2010/main" val="40082501"/>
              </p:ext>
            </p:extLst>
          </p:nvPr>
        </p:nvGraphicFramePr>
        <p:xfrm>
          <a:off x="5499253" y="165252"/>
          <a:ext cx="6231522" cy="6583680"/>
        </p:xfrm>
        <a:graphic>
          <a:graphicData uri="http://schemas.openxmlformats.org/drawingml/2006/table">
            <a:tbl>
              <a:tblPr bandRow="1">
                <a:tableStyleId>{5C22544A-7EE6-4342-B048-85BDC9FD1C3A}</a:tableStyleId>
              </a:tblPr>
              <a:tblGrid>
                <a:gridCol w="1246305">
                  <a:extLst>
                    <a:ext uri="{9D8B030D-6E8A-4147-A177-3AD203B41FA5}">
                      <a16:colId xmlns:a16="http://schemas.microsoft.com/office/drawing/2014/main" val="3977983984"/>
                    </a:ext>
                  </a:extLst>
                </a:gridCol>
                <a:gridCol w="1276733">
                  <a:extLst>
                    <a:ext uri="{9D8B030D-6E8A-4147-A177-3AD203B41FA5}">
                      <a16:colId xmlns:a16="http://schemas.microsoft.com/office/drawing/2014/main" val="4256330280"/>
                    </a:ext>
                  </a:extLst>
                </a:gridCol>
                <a:gridCol w="1215874">
                  <a:extLst>
                    <a:ext uri="{9D8B030D-6E8A-4147-A177-3AD203B41FA5}">
                      <a16:colId xmlns:a16="http://schemas.microsoft.com/office/drawing/2014/main" val="3649386820"/>
                    </a:ext>
                  </a:extLst>
                </a:gridCol>
                <a:gridCol w="1246305">
                  <a:extLst>
                    <a:ext uri="{9D8B030D-6E8A-4147-A177-3AD203B41FA5}">
                      <a16:colId xmlns:a16="http://schemas.microsoft.com/office/drawing/2014/main" val="2015781649"/>
                    </a:ext>
                  </a:extLst>
                </a:gridCol>
                <a:gridCol w="1246305">
                  <a:extLst>
                    <a:ext uri="{9D8B030D-6E8A-4147-A177-3AD203B41FA5}">
                      <a16:colId xmlns:a16="http://schemas.microsoft.com/office/drawing/2014/main" val="2479512464"/>
                    </a:ext>
                  </a:extLst>
                </a:gridCol>
              </a:tblGrid>
              <a:tr h="304610">
                <a:tc>
                  <a:txBody>
                    <a:bodyPr/>
                    <a:lstStyle/>
                    <a:p>
                      <a:pPr>
                        <a:buNone/>
                      </a:pPr>
                      <a:r>
                        <a:rPr lang="en-US" b="1" dirty="0">
                          <a:solidFill>
                            <a:schemeClr val="bg1"/>
                          </a:solidFill>
                        </a:rPr>
                        <a:t>Predictor</a:t>
                      </a:r>
                      <a:endParaRPr lang="en-US" dirty="0">
                        <a:solidFill>
                          <a:schemeClr val="bg1"/>
                        </a:solidFill>
                      </a:endParaRPr>
                    </a:p>
                  </a:txBody>
                  <a:tcPr anchor="ctr">
                    <a:lnL>
                      <a:noFill/>
                    </a:lnL>
                    <a:lnR>
                      <a:noFill/>
                    </a:lnR>
                    <a:lnT>
                      <a:noFill/>
                    </a:lnT>
                    <a:lnB>
                      <a:noFill/>
                    </a:lnB>
                    <a:noFill/>
                  </a:tcPr>
                </a:tc>
                <a:tc>
                  <a:txBody>
                    <a:bodyPr/>
                    <a:lstStyle/>
                    <a:p>
                      <a:pPr algn="r">
                        <a:buNone/>
                      </a:pPr>
                      <a:r>
                        <a:rPr lang="en-US" b="1" dirty="0">
                          <a:solidFill>
                            <a:schemeClr val="bg1"/>
                          </a:solidFill>
                        </a:rPr>
                        <a:t>Estimate</a:t>
                      </a:r>
                      <a:endParaRPr lang="en-US" dirty="0">
                        <a:solidFill>
                          <a:schemeClr val="bg1"/>
                        </a:solidFill>
                      </a:endParaRPr>
                    </a:p>
                  </a:txBody>
                  <a:tcPr anchor="ctr">
                    <a:lnL>
                      <a:noFill/>
                    </a:lnL>
                    <a:lnR>
                      <a:noFill/>
                    </a:lnR>
                    <a:lnT>
                      <a:noFill/>
                    </a:lnT>
                    <a:lnB>
                      <a:noFill/>
                    </a:lnB>
                    <a:noFill/>
                  </a:tcPr>
                </a:tc>
                <a:tc>
                  <a:txBody>
                    <a:bodyPr/>
                    <a:lstStyle/>
                    <a:p>
                      <a:pPr algn="r">
                        <a:buNone/>
                      </a:pPr>
                      <a:r>
                        <a:rPr lang="en-US" b="1" dirty="0">
                          <a:solidFill>
                            <a:schemeClr val="bg1"/>
                          </a:solidFill>
                        </a:rPr>
                        <a:t>Std. Error</a:t>
                      </a:r>
                      <a:endParaRPr lang="en-US" dirty="0">
                        <a:solidFill>
                          <a:schemeClr val="bg1"/>
                        </a:solidFill>
                      </a:endParaRPr>
                    </a:p>
                  </a:txBody>
                  <a:tcPr anchor="ctr">
                    <a:lnL>
                      <a:noFill/>
                    </a:lnL>
                    <a:lnR>
                      <a:noFill/>
                    </a:lnR>
                    <a:lnT>
                      <a:noFill/>
                    </a:lnT>
                    <a:lnB>
                      <a:noFill/>
                    </a:lnB>
                    <a:noFill/>
                  </a:tcPr>
                </a:tc>
                <a:tc>
                  <a:txBody>
                    <a:bodyPr/>
                    <a:lstStyle/>
                    <a:p>
                      <a:pPr algn="r">
                        <a:buNone/>
                      </a:pPr>
                      <a:r>
                        <a:rPr lang="en-US" b="1" dirty="0">
                          <a:solidFill>
                            <a:schemeClr val="bg1"/>
                          </a:solidFill>
                        </a:rPr>
                        <a:t>z value</a:t>
                      </a:r>
                      <a:endParaRPr lang="en-US" dirty="0">
                        <a:solidFill>
                          <a:schemeClr val="bg1"/>
                        </a:solidFill>
                      </a:endParaRPr>
                    </a:p>
                  </a:txBody>
                  <a:tcPr anchor="ctr">
                    <a:lnL>
                      <a:noFill/>
                    </a:lnL>
                    <a:lnR>
                      <a:noFill/>
                    </a:lnR>
                    <a:lnT>
                      <a:noFill/>
                    </a:lnT>
                    <a:lnB>
                      <a:noFill/>
                    </a:lnB>
                    <a:noFill/>
                  </a:tcPr>
                </a:tc>
                <a:tc>
                  <a:txBody>
                    <a:bodyPr/>
                    <a:lstStyle/>
                    <a:p>
                      <a:pPr algn="r">
                        <a:buNone/>
                      </a:pPr>
                      <a:r>
                        <a:rPr lang="en-US" b="1" dirty="0">
                          <a:solidFill>
                            <a:schemeClr val="bg1"/>
                          </a:solidFill>
                        </a:rPr>
                        <a:t>p-value</a:t>
                      </a:r>
                      <a:endParaRPr lang="en-US" dirty="0">
                        <a:solidFill>
                          <a:schemeClr val="bg1"/>
                        </a:solidFill>
                      </a:endParaRPr>
                    </a:p>
                  </a:txBody>
                  <a:tcPr anchor="ctr">
                    <a:lnL>
                      <a:noFill/>
                    </a:lnL>
                    <a:lnR>
                      <a:noFill/>
                    </a:lnR>
                    <a:lnT>
                      <a:noFill/>
                    </a:lnT>
                    <a:lnB>
                      <a:noFill/>
                    </a:lnB>
                    <a:noFill/>
                  </a:tcPr>
                </a:tc>
                <a:extLst>
                  <a:ext uri="{0D108BD9-81ED-4DB2-BD59-A6C34878D82A}">
                    <a16:rowId xmlns:a16="http://schemas.microsoft.com/office/drawing/2014/main" val="252407719"/>
                  </a:ext>
                </a:extLst>
              </a:tr>
              <a:tr h="304610">
                <a:tc>
                  <a:txBody>
                    <a:bodyPr/>
                    <a:lstStyle/>
                    <a:p>
                      <a:pPr>
                        <a:buNone/>
                      </a:pPr>
                      <a:r>
                        <a:rPr lang="en-US" dirty="0">
                          <a:solidFill>
                            <a:schemeClr val="bg1"/>
                          </a:solidFill>
                        </a:rPr>
                        <a:t>(Intercept)</a:t>
                      </a:r>
                    </a:p>
                  </a:txBody>
                  <a:tcPr anchor="ctr">
                    <a:lnL>
                      <a:noFill/>
                    </a:lnL>
                    <a:lnR>
                      <a:noFill/>
                    </a:lnR>
                    <a:lnT>
                      <a:noFill/>
                    </a:lnT>
                    <a:lnB>
                      <a:noFill/>
                    </a:lnB>
                    <a:noFill/>
                  </a:tcPr>
                </a:tc>
                <a:tc>
                  <a:txBody>
                    <a:bodyPr/>
                    <a:lstStyle/>
                    <a:p>
                      <a:pPr algn="r">
                        <a:buNone/>
                      </a:pPr>
                      <a:r>
                        <a:rPr lang="en-US" dirty="0">
                          <a:solidFill>
                            <a:schemeClr val="bg1"/>
                          </a:solidFill>
                        </a:rPr>
                        <a:t>−1.292</a:t>
                      </a:r>
                    </a:p>
                  </a:txBody>
                  <a:tcPr anchor="ctr">
                    <a:lnL>
                      <a:noFill/>
                    </a:lnL>
                    <a:lnR>
                      <a:noFill/>
                    </a:lnR>
                    <a:lnT>
                      <a:noFill/>
                    </a:lnT>
                    <a:lnB>
                      <a:noFill/>
                    </a:lnB>
                    <a:noFill/>
                  </a:tcPr>
                </a:tc>
                <a:tc>
                  <a:txBody>
                    <a:bodyPr/>
                    <a:lstStyle/>
                    <a:p>
                      <a:pPr algn="r">
                        <a:buNone/>
                      </a:pPr>
                      <a:r>
                        <a:rPr lang="en-US" dirty="0">
                          <a:solidFill>
                            <a:schemeClr val="bg1"/>
                          </a:solidFill>
                        </a:rPr>
                        <a:t>0.574</a:t>
                      </a:r>
                    </a:p>
                  </a:txBody>
                  <a:tcPr anchor="ctr">
                    <a:lnL>
                      <a:noFill/>
                    </a:lnL>
                    <a:lnR>
                      <a:noFill/>
                    </a:lnR>
                    <a:lnT>
                      <a:noFill/>
                    </a:lnT>
                    <a:lnB>
                      <a:noFill/>
                    </a:lnB>
                    <a:noFill/>
                  </a:tcPr>
                </a:tc>
                <a:tc>
                  <a:txBody>
                    <a:bodyPr/>
                    <a:lstStyle/>
                    <a:p>
                      <a:pPr algn="r">
                        <a:buNone/>
                      </a:pPr>
                      <a:r>
                        <a:rPr lang="en-US" dirty="0">
                          <a:solidFill>
                            <a:schemeClr val="bg1"/>
                          </a:solidFill>
                        </a:rPr>
                        <a:t>−2.251</a:t>
                      </a:r>
                    </a:p>
                  </a:txBody>
                  <a:tcPr anchor="ctr">
                    <a:lnL>
                      <a:noFill/>
                    </a:lnL>
                    <a:lnR>
                      <a:noFill/>
                    </a:lnR>
                    <a:lnT>
                      <a:noFill/>
                    </a:lnT>
                    <a:lnB>
                      <a:noFill/>
                    </a:lnB>
                    <a:noFill/>
                  </a:tcPr>
                </a:tc>
                <a:tc>
                  <a:txBody>
                    <a:bodyPr/>
                    <a:lstStyle/>
                    <a:p>
                      <a:pPr algn="r">
                        <a:buNone/>
                      </a:pPr>
                      <a:r>
                        <a:rPr lang="en-US" dirty="0">
                          <a:solidFill>
                            <a:schemeClr val="bg1"/>
                          </a:solidFill>
                        </a:rPr>
                        <a:t>0.0244 *</a:t>
                      </a:r>
                    </a:p>
                  </a:txBody>
                  <a:tcPr anchor="ctr">
                    <a:lnL>
                      <a:noFill/>
                    </a:lnL>
                    <a:lnR>
                      <a:noFill/>
                    </a:lnR>
                    <a:lnT>
                      <a:noFill/>
                    </a:lnT>
                    <a:lnB>
                      <a:noFill/>
                    </a:lnB>
                    <a:noFill/>
                  </a:tcPr>
                </a:tc>
                <a:extLst>
                  <a:ext uri="{0D108BD9-81ED-4DB2-BD59-A6C34878D82A}">
                    <a16:rowId xmlns:a16="http://schemas.microsoft.com/office/drawing/2014/main" val="2418513083"/>
                  </a:ext>
                </a:extLst>
              </a:tr>
              <a:tr h="304610">
                <a:tc>
                  <a:txBody>
                    <a:bodyPr/>
                    <a:lstStyle/>
                    <a:p>
                      <a:pPr>
                        <a:buNone/>
                      </a:pPr>
                      <a:r>
                        <a:rPr lang="en-US" dirty="0" err="1">
                          <a:solidFill>
                            <a:schemeClr val="bg1"/>
                          </a:solidFill>
                        </a:rPr>
                        <a:t>T_Loadz</a:t>
                      </a:r>
                    </a:p>
                  </a:txBody>
                  <a:tcPr anchor="ctr">
                    <a:lnL>
                      <a:noFill/>
                    </a:lnL>
                    <a:lnR>
                      <a:noFill/>
                    </a:lnR>
                    <a:lnT>
                      <a:noFill/>
                    </a:lnT>
                    <a:lnB>
                      <a:noFill/>
                    </a:lnB>
                    <a:noFill/>
                  </a:tcPr>
                </a:tc>
                <a:tc>
                  <a:txBody>
                    <a:bodyPr/>
                    <a:lstStyle/>
                    <a:p>
                      <a:pPr algn="r">
                        <a:buNone/>
                      </a:pPr>
                      <a:r>
                        <a:rPr lang="en-US" dirty="0">
                          <a:solidFill>
                            <a:schemeClr val="bg1"/>
                          </a:solidFill>
                        </a:rPr>
                        <a:t>0.502</a:t>
                      </a:r>
                    </a:p>
                  </a:txBody>
                  <a:tcPr anchor="ctr">
                    <a:lnL>
                      <a:noFill/>
                    </a:lnL>
                    <a:lnR>
                      <a:noFill/>
                    </a:lnR>
                    <a:lnT>
                      <a:noFill/>
                    </a:lnT>
                    <a:lnB>
                      <a:noFill/>
                    </a:lnB>
                    <a:noFill/>
                  </a:tcPr>
                </a:tc>
                <a:tc>
                  <a:txBody>
                    <a:bodyPr/>
                    <a:lstStyle/>
                    <a:p>
                      <a:pPr algn="r">
                        <a:buNone/>
                      </a:pPr>
                      <a:r>
                        <a:rPr lang="en-US" dirty="0">
                          <a:solidFill>
                            <a:schemeClr val="bg1"/>
                          </a:solidFill>
                        </a:rPr>
                        <a:t>0.320</a:t>
                      </a:r>
                    </a:p>
                  </a:txBody>
                  <a:tcPr anchor="ctr">
                    <a:lnL>
                      <a:noFill/>
                    </a:lnL>
                    <a:lnR>
                      <a:noFill/>
                    </a:lnR>
                    <a:lnT>
                      <a:noFill/>
                    </a:lnT>
                    <a:lnB>
                      <a:noFill/>
                    </a:lnB>
                    <a:noFill/>
                  </a:tcPr>
                </a:tc>
                <a:tc>
                  <a:txBody>
                    <a:bodyPr/>
                    <a:lstStyle/>
                    <a:p>
                      <a:pPr algn="r">
                        <a:buNone/>
                      </a:pPr>
                      <a:r>
                        <a:rPr lang="en-US" dirty="0">
                          <a:solidFill>
                            <a:schemeClr val="bg1"/>
                          </a:solidFill>
                        </a:rPr>
                        <a:t>1.569</a:t>
                      </a:r>
                    </a:p>
                  </a:txBody>
                  <a:tcPr anchor="ctr">
                    <a:lnL>
                      <a:noFill/>
                    </a:lnL>
                    <a:lnR>
                      <a:noFill/>
                    </a:lnR>
                    <a:lnT>
                      <a:noFill/>
                    </a:lnT>
                    <a:lnB>
                      <a:noFill/>
                    </a:lnB>
                    <a:noFill/>
                  </a:tcPr>
                </a:tc>
                <a:tc>
                  <a:txBody>
                    <a:bodyPr/>
                    <a:lstStyle/>
                    <a:p>
                      <a:pPr algn="r">
                        <a:buNone/>
                      </a:pPr>
                      <a:r>
                        <a:rPr lang="en-US" dirty="0">
                          <a:solidFill>
                            <a:schemeClr val="bg1"/>
                          </a:solidFill>
                        </a:rPr>
                        <a:t>0.1166</a:t>
                      </a:r>
                    </a:p>
                  </a:txBody>
                  <a:tcPr anchor="ctr">
                    <a:lnL>
                      <a:noFill/>
                    </a:lnL>
                    <a:lnR>
                      <a:noFill/>
                    </a:lnR>
                    <a:lnT>
                      <a:noFill/>
                    </a:lnT>
                    <a:lnB>
                      <a:noFill/>
                    </a:lnB>
                    <a:noFill/>
                  </a:tcPr>
                </a:tc>
                <a:extLst>
                  <a:ext uri="{0D108BD9-81ED-4DB2-BD59-A6C34878D82A}">
                    <a16:rowId xmlns:a16="http://schemas.microsoft.com/office/drawing/2014/main" val="3311528483"/>
                  </a:ext>
                </a:extLst>
              </a:tr>
              <a:tr h="304610">
                <a:tc>
                  <a:txBody>
                    <a:bodyPr/>
                    <a:lstStyle/>
                    <a:p>
                      <a:pPr>
                        <a:buNone/>
                      </a:pPr>
                      <a:r>
                        <a:rPr lang="en-US" dirty="0" err="1">
                          <a:solidFill>
                            <a:schemeClr val="bg1"/>
                          </a:solidFill>
                        </a:rPr>
                        <a:t>Massz</a:t>
                      </a:r>
                    </a:p>
                  </a:txBody>
                  <a:tcPr anchor="ctr">
                    <a:lnL>
                      <a:noFill/>
                    </a:lnL>
                    <a:lnR>
                      <a:noFill/>
                    </a:lnR>
                    <a:lnT>
                      <a:noFill/>
                    </a:lnT>
                    <a:lnB>
                      <a:noFill/>
                    </a:lnB>
                    <a:noFill/>
                  </a:tcPr>
                </a:tc>
                <a:tc>
                  <a:txBody>
                    <a:bodyPr/>
                    <a:lstStyle/>
                    <a:p>
                      <a:pPr algn="r">
                        <a:buNone/>
                      </a:pPr>
                      <a:r>
                        <a:rPr lang="en-US" dirty="0">
                          <a:solidFill>
                            <a:schemeClr val="bg1"/>
                          </a:solidFill>
                        </a:rPr>
                        <a:t>−0.158</a:t>
                      </a:r>
                    </a:p>
                  </a:txBody>
                  <a:tcPr anchor="ctr">
                    <a:lnL>
                      <a:noFill/>
                    </a:lnL>
                    <a:lnR>
                      <a:noFill/>
                    </a:lnR>
                    <a:lnT>
                      <a:noFill/>
                    </a:lnT>
                    <a:lnB>
                      <a:noFill/>
                    </a:lnB>
                    <a:noFill/>
                  </a:tcPr>
                </a:tc>
                <a:tc>
                  <a:txBody>
                    <a:bodyPr/>
                    <a:lstStyle/>
                    <a:p>
                      <a:pPr algn="r">
                        <a:buNone/>
                      </a:pPr>
                      <a:r>
                        <a:rPr lang="en-US" dirty="0">
                          <a:solidFill>
                            <a:schemeClr val="bg1"/>
                          </a:solidFill>
                        </a:rPr>
                        <a:t>0.447</a:t>
                      </a:r>
                    </a:p>
                  </a:txBody>
                  <a:tcPr anchor="ctr">
                    <a:lnL>
                      <a:noFill/>
                    </a:lnL>
                    <a:lnR>
                      <a:noFill/>
                    </a:lnR>
                    <a:lnT>
                      <a:noFill/>
                    </a:lnT>
                    <a:lnB>
                      <a:noFill/>
                    </a:lnB>
                    <a:noFill/>
                  </a:tcPr>
                </a:tc>
                <a:tc>
                  <a:txBody>
                    <a:bodyPr/>
                    <a:lstStyle/>
                    <a:p>
                      <a:pPr algn="r">
                        <a:buNone/>
                      </a:pPr>
                      <a:r>
                        <a:rPr lang="en-US" dirty="0">
                          <a:solidFill>
                            <a:schemeClr val="bg1"/>
                          </a:solidFill>
                        </a:rPr>
                        <a:t>−0.353</a:t>
                      </a:r>
                    </a:p>
                  </a:txBody>
                  <a:tcPr anchor="ctr">
                    <a:lnL>
                      <a:noFill/>
                    </a:lnL>
                    <a:lnR>
                      <a:noFill/>
                    </a:lnR>
                    <a:lnT>
                      <a:noFill/>
                    </a:lnT>
                    <a:lnB>
                      <a:noFill/>
                    </a:lnB>
                    <a:noFill/>
                  </a:tcPr>
                </a:tc>
                <a:tc>
                  <a:txBody>
                    <a:bodyPr/>
                    <a:lstStyle/>
                    <a:p>
                      <a:pPr algn="r">
                        <a:buNone/>
                      </a:pPr>
                      <a:r>
                        <a:rPr lang="en-US" dirty="0">
                          <a:solidFill>
                            <a:schemeClr val="bg1"/>
                          </a:solidFill>
                        </a:rPr>
                        <a:t>0.7239</a:t>
                      </a:r>
                    </a:p>
                  </a:txBody>
                  <a:tcPr anchor="ctr">
                    <a:lnL>
                      <a:noFill/>
                    </a:lnL>
                    <a:lnR>
                      <a:noFill/>
                    </a:lnR>
                    <a:lnT>
                      <a:noFill/>
                    </a:lnT>
                    <a:lnB>
                      <a:noFill/>
                    </a:lnB>
                    <a:noFill/>
                  </a:tcPr>
                </a:tc>
                <a:extLst>
                  <a:ext uri="{0D108BD9-81ED-4DB2-BD59-A6C34878D82A}">
                    <a16:rowId xmlns:a16="http://schemas.microsoft.com/office/drawing/2014/main" val="3942729237"/>
                  </a:ext>
                </a:extLst>
              </a:tr>
              <a:tr h="516144">
                <a:tc>
                  <a:txBody>
                    <a:bodyPr/>
                    <a:lstStyle/>
                    <a:p>
                      <a:pPr>
                        <a:buNone/>
                      </a:pPr>
                      <a:r>
                        <a:rPr lang="en-US" dirty="0">
                          <a:solidFill>
                            <a:schemeClr val="bg1"/>
                          </a:solidFill>
                        </a:rPr>
                        <a:t>Condition (ta)</a:t>
                      </a:r>
                    </a:p>
                  </a:txBody>
                  <a:tcPr anchor="ctr">
                    <a:lnL>
                      <a:noFill/>
                    </a:lnL>
                    <a:lnR>
                      <a:noFill/>
                    </a:lnR>
                    <a:lnT>
                      <a:noFill/>
                    </a:lnT>
                    <a:lnB>
                      <a:noFill/>
                    </a:lnB>
                    <a:noFill/>
                  </a:tcPr>
                </a:tc>
                <a:tc>
                  <a:txBody>
                    <a:bodyPr/>
                    <a:lstStyle/>
                    <a:p>
                      <a:pPr algn="r">
                        <a:buNone/>
                      </a:pPr>
                      <a:r>
                        <a:rPr lang="en-US" dirty="0">
                          <a:solidFill>
                            <a:schemeClr val="bg1"/>
                          </a:solidFill>
                        </a:rPr>
                        <a:t>0.507</a:t>
                      </a:r>
                    </a:p>
                  </a:txBody>
                  <a:tcPr anchor="ctr">
                    <a:lnL>
                      <a:noFill/>
                    </a:lnL>
                    <a:lnR>
                      <a:noFill/>
                    </a:lnR>
                    <a:lnT>
                      <a:noFill/>
                    </a:lnT>
                    <a:lnB>
                      <a:noFill/>
                    </a:lnB>
                    <a:noFill/>
                  </a:tcPr>
                </a:tc>
                <a:tc>
                  <a:txBody>
                    <a:bodyPr/>
                    <a:lstStyle/>
                    <a:p>
                      <a:pPr algn="r">
                        <a:buNone/>
                      </a:pPr>
                      <a:r>
                        <a:rPr lang="en-US" dirty="0">
                          <a:solidFill>
                            <a:schemeClr val="bg1"/>
                          </a:solidFill>
                        </a:rPr>
                        <a:t>0.710</a:t>
                      </a:r>
                    </a:p>
                  </a:txBody>
                  <a:tcPr anchor="ctr">
                    <a:lnL>
                      <a:noFill/>
                    </a:lnL>
                    <a:lnR>
                      <a:noFill/>
                    </a:lnR>
                    <a:lnT>
                      <a:noFill/>
                    </a:lnT>
                    <a:lnB>
                      <a:noFill/>
                    </a:lnB>
                    <a:noFill/>
                  </a:tcPr>
                </a:tc>
                <a:tc>
                  <a:txBody>
                    <a:bodyPr/>
                    <a:lstStyle/>
                    <a:p>
                      <a:pPr algn="r">
                        <a:buNone/>
                      </a:pPr>
                      <a:r>
                        <a:rPr lang="en-US" dirty="0">
                          <a:solidFill>
                            <a:schemeClr val="bg1"/>
                          </a:solidFill>
                        </a:rPr>
                        <a:t>0.714</a:t>
                      </a:r>
                    </a:p>
                  </a:txBody>
                  <a:tcPr anchor="ctr">
                    <a:lnL>
                      <a:noFill/>
                    </a:lnL>
                    <a:lnR>
                      <a:noFill/>
                    </a:lnR>
                    <a:lnT>
                      <a:noFill/>
                    </a:lnT>
                    <a:lnB>
                      <a:noFill/>
                    </a:lnB>
                    <a:noFill/>
                  </a:tcPr>
                </a:tc>
                <a:tc>
                  <a:txBody>
                    <a:bodyPr/>
                    <a:lstStyle/>
                    <a:p>
                      <a:pPr algn="r">
                        <a:buNone/>
                      </a:pPr>
                      <a:r>
                        <a:rPr lang="en-US" dirty="0">
                          <a:solidFill>
                            <a:schemeClr val="bg1"/>
                          </a:solidFill>
                        </a:rPr>
                        <a:t>0.4754</a:t>
                      </a:r>
                    </a:p>
                  </a:txBody>
                  <a:tcPr anchor="ctr">
                    <a:lnL>
                      <a:noFill/>
                    </a:lnL>
                    <a:lnR>
                      <a:noFill/>
                    </a:lnR>
                    <a:lnT>
                      <a:noFill/>
                    </a:lnT>
                    <a:lnB>
                      <a:noFill/>
                    </a:lnB>
                    <a:noFill/>
                  </a:tcPr>
                </a:tc>
                <a:extLst>
                  <a:ext uri="{0D108BD9-81ED-4DB2-BD59-A6C34878D82A}">
                    <a16:rowId xmlns:a16="http://schemas.microsoft.com/office/drawing/2014/main" val="2457581256"/>
                  </a:ext>
                </a:extLst>
              </a:tr>
              <a:tr h="516144">
                <a:tc>
                  <a:txBody>
                    <a:bodyPr/>
                    <a:lstStyle/>
                    <a:p>
                      <a:pPr>
                        <a:buNone/>
                      </a:pPr>
                      <a:r>
                        <a:rPr lang="en-US" dirty="0">
                          <a:solidFill>
                            <a:schemeClr val="bg1"/>
                          </a:solidFill>
                        </a:rPr>
                        <a:t>Condition (td)</a:t>
                      </a:r>
                    </a:p>
                  </a:txBody>
                  <a:tcPr anchor="ctr">
                    <a:lnL>
                      <a:noFill/>
                    </a:lnL>
                    <a:lnR>
                      <a:noFill/>
                    </a:lnR>
                    <a:lnT>
                      <a:noFill/>
                    </a:lnT>
                    <a:lnB>
                      <a:noFill/>
                    </a:lnB>
                    <a:noFill/>
                  </a:tcPr>
                </a:tc>
                <a:tc>
                  <a:txBody>
                    <a:bodyPr/>
                    <a:lstStyle/>
                    <a:p>
                      <a:pPr algn="r">
                        <a:buNone/>
                      </a:pPr>
                      <a:r>
                        <a:rPr lang="en-US" dirty="0">
                          <a:solidFill>
                            <a:schemeClr val="bg1"/>
                          </a:solidFill>
                        </a:rPr>
                        <a:t>0.821</a:t>
                      </a:r>
                    </a:p>
                  </a:txBody>
                  <a:tcPr anchor="ctr">
                    <a:lnL>
                      <a:noFill/>
                    </a:lnL>
                    <a:lnR>
                      <a:noFill/>
                    </a:lnR>
                    <a:lnT>
                      <a:noFill/>
                    </a:lnT>
                    <a:lnB>
                      <a:noFill/>
                    </a:lnB>
                    <a:noFill/>
                  </a:tcPr>
                </a:tc>
                <a:tc>
                  <a:txBody>
                    <a:bodyPr/>
                    <a:lstStyle/>
                    <a:p>
                      <a:pPr algn="r">
                        <a:buNone/>
                      </a:pPr>
                      <a:r>
                        <a:rPr lang="en-US" dirty="0">
                          <a:solidFill>
                            <a:schemeClr val="bg1"/>
                          </a:solidFill>
                        </a:rPr>
                        <a:t>1.077</a:t>
                      </a:r>
                    </a:p>
                  </a:txBody>
                  <a:tcPr anchor="ctr">
                    <a:lnL>
                      <a:noFill/>
                    </a:lnL>
                    <a:lnR>
                      <a:noFill/>
                    </a:lnR>
                    <a:lnT>
                      <a:noFill/>
                    </a:lnT>
                    <a:lnB>
                      <a:noFill/>
                    </a:lnB>
                    <a:noFill/>
                  </a:tcPr>
                </a:tc>
                <a:tc>
                  <a:txBody>
                    <a:bodyPr/>
                    <a:lstStyle/>
                    <a:p>
                      <a:pPr algn="r">
                        <a:buNone/>
                      </a:pPr>
                      <a:r>
                        <a:rPr lang="en-US" dirty="0">
                          <a:solidFill>
                            <a:schemeClr val="bg1"/>
                          </a:solidFill>
                        </a:rPr>
                        <a:t>0.762</a:t>
                      </a:r>
                    </a:p>
                  </a:txBody>
                  <a:tcPr anchor="ctr">
                    <a:lnL>
                      <a:noFill/>
                    </a:lnL>
                    <a:lnR>
                      <a:noFill/>
                    </a:lnR>
                    <a:lnT>
                      <a:noFill/>
                    </a:lnT>
                    <a:lnB>
                      <a:noFill/>
                    </a:lnB>
                    <a:noFill/>
                  </a:tcPr>
                </a:tc>
                <a:tc>
                  <a:txBody>
                    <a:bodyPr/>
                    <a:lstStyle/>
                    <a:p>
                      <a:pPr algn="r">
                        <a:buNone/>
                      </a:pPr>
                      <a:r>
                        <a:rPr lang="en-US" dirty="0">
                          <a:solidFill>
                            <a:schemeClr val="bg1"/>
                          </a:solidFill>
                        </a:rPr>
                        <a:t>0.4459</a:t>
                      </a:r>
                    </a:p>
                  </a:txBody>
                  <a:tcPr anchor="ctr">
                    <a:lnL>
                      <a:noFill/>
                    </a:lnL>
                    <a:lnR>
                      <a:noFill/>
                    </a:lnR>
                    <a:lnT>
                      <a:noFill/>
                    </a:lnT>
                    <a:lnB>
                      <a:noFill/>
                    </a:lnB>
                    <a:noFill/>
                  </a:tcPr>
                </a:tc>
                <a:extLst>
                  <a:ext uri="{0D108BD9-81ED-4DB2-BD59-A6C34878D82A}">
                    <a16:rowId xmlns:a16="http://schemas.microsoft.com/office/drawing/2014/main" val="73566281"/>
                  </a:ext>
                </a:extLst>
              </a:tr>
              <a:tr h="516144">
                <a:tc>
                  <a:txBody>
                    <a:bodyPr/>
                    <a:lstStyle/>
                    <a:p>
                      <a:pPr>
                        <a:buNone/>
                      </a:pPr>
                      <a:r>
                        <a:rPr lang="en-US" dirty="0">
                          <a:solidFill>
                            <a:schemeClr val="bg1"/>
                          </a:solidFill>
                        </a:rPr>
                        <a:t>Condition (</a:t>
                      </a:r>
                      <a:r>
                        <a:rPr lang="en-US" dirty="0" err="1">
                          <a:solidFill>
                            <a:schemeClr val="bg1"/>
                          </a:solidFill>
                        </a:rPr>
                        <a:t>vc</a:t>
                      </a:r>
                      <a:r>
                        <a:rPr lang="en-US" dirty="0">
                          <a:solidFill>
                            <a:schemeClr val="bg1"/>
                          </a:solidFill>
                        </a:rPr>
                        <a:t>)</a:t>
                      </a:r>
                    </a:p>
                  </a:txBody>
                  <a:tcPr anchor="ctr">
                    <a:lnL>
                      <a:noFill/>
                    </a:lnL>
                    <a:lnR>
                      <a:noFill/>
                    </a:lnR>
                    <a:lnT>
                      <a:noFill/>
                    </a:lnT>
                    <a:lnB>
                      <a:noFill/>
                    </a:lnB>
                    <a:noFill/>
                  </a:tcPr>
                </a:tc>
                <a:tc>
                  <a:txBody>
                    <a:bodyPr/>
                    <a:lstStyle/>
                    <a:p>
                      <a:pPr algn="r">
                        <a:buNone/>
                      </a:pPr>
                      <a:r>
                        <a:rPr lang="en-US" dirty="0">
                          <a:solidFill>
                            <a:schemeClr val="bg1"/>
                          </a:solidFill>
                        </a:rPr>
                        <a:t>−21.50</a:t>
                      </a:r>
                    </a:p>
                  </a:txBody>
                  <a:tcPr anchor="ctr">
                    <a:lnL>
                      <a:noFill/>
                    </a:lnL>
                    <a:lnR>
                      <a:noFill/>
                    </a:lnR>
                    <a:lnT>
                      <a:noFill/>
                    </a:lnT>
                    <a:lnB>
                      <a:noFill/>
                    </a:lnB>
                    <a:noFill/>
                  </a:tcPr>
                </a:tc>
                <a:tc>
                  <a:txBody>
                    <a:bodyPr/>
                    <a:lstStyle/>
                    <a:p>
                      <a:pPr algn="r">
                        <a:buNone/>
                      </a:pPr>
                      <a:r>
                        <a:rPr lang="en-US" dirty="0">
                          <a:solidFill>
                            <a:schemeClr val="bg1"/>
                          </a:solidFill>
                        </a:rPr>
                        <a:t>72,160</a:t>
                      </a:r>
                    </a:p>
                  </a:txBody>
                  <a:tcPr anchor="ctr">
                    <a:lnL>
                      <a:noFill/>
                    </a:lnL>
                    <a:lnR>
                      <a:noFill/>
                    </a:lnR>
                    <a:lnT>
                      <a:noFill/>
                    </a:lnT>
                    <a:lnB>
                      <a:noFill/>
                    </a:lnB>
                    <a:noFill/>
                  </a:tcPr>
                </a:tc>
                <a:tc>
                  <a:txBody>
                    <a:bodyPr/>
                    <a:lstStyle/>
                    <a:p>
                      <a:pPr algn="r">
                        <a:buNone/>
                      </a:pPr>
                      <a:r>
                        <a:rPr lang="en-US" dirty="0">
                          <a:solidFill>
                            <a:schemeClr val="bg1"/>
                          </a:solidFill>
                        </a:rPr>
                        <a:t>0.000</a:t>
                      </a:r>
                    </a:p>
                  </a:txBody>
                  <a:tcPr anchor="ctr">
                    <a:lnL>
                      <a:noFill/>
                    </a:lnL>
                    <a:lnR>
                      <a:noFill/>
                    </a:lnR>
                    <a:lnT>
                      <a:noFill/>
                    </a:lnT>
                    <a:lnB>
                      <a:noFill/>
                    </a:lnB>
                    <a:noFill/>
                  </a:tcPr>
                </a:tc>
                <a:tc>
                  <a:txBody>
                    <a:bodyPr/>
                    <a:lstStyle/>
                    <a:p>
                      <a:pPr algn="r">
                        <a:buNone/>
                      </a:pPr>
                      <a:r>
                        <a:rPr lang="en-US" dirty="0">
                          <a:solidFill>
                            <a:schemeClr val="bg1"/>
                          </a:solidFill>
                        </a:rPr>
                        <a:t>0.9998</a:t>
                      </a:r>
                    </a:p>
                  </a:txBody>
                  <a:tcPr anchor="ctr">
                    <a:lnL>
                      <a:noFill/>
                    </a:lnL>
                    <a:lnR>
                      <a:noFill/>
                    </a:lnR>
                    <a:lnT>
                      <a:noFill/>
                    </a:lnT>
                    <a:lnB>
                      <a:noFill/>
                    </a:lnB>
                    <a:noFill/>
                  </a:tcPr>
                </a:tc>
                <a:extLst>
                  <a:ext uri="{0D108BD9-81ED-4DB2-BD59-A6C34878D82A}">
                    <a16:rowId xmlns:a16="http://schemas.microsoft.com/office/drawing/2014/main" val="3546617206"/>
                  </a:ext>
                </a:extLst>
              </a:tr>
              <a:tr h="558452">
                <a:tc>
                  <a:txBody>
                    <a:bodyPr/>
                    <a:lstStyle/>
                    <a:p>
                      <a:pPr>
                        <a:buNone/>
                      </a:pPr>
                      <a:r>
                        <a:rPr lang="en-US" dirty="0">
                          <a:solidFill>
                            <a:schemeClr val="bg1"/>
                          </a:solidFill>
                        </a:rPr>
                        <a:t>Condition (</a:t>
                      </a:r>
                      <a:r>
                        <a:rPr lang="en-US" dirty="0" err="1">
                          <a:solidFill>
                            <a:schemeClr val="bg1"/>
                          </a:solidFill>
                        </a:rPr>
                        <a:t>vc</a:t>
                      </a:r>
                      <a:r>
                        <a:rPr lang="en-US" dirty="0">
                          <a:solidFill>
                            <a:schemeClr val="bg1"/>
                          </a:solidFill>
                        </a:rPr>
                        <a:t>/md4)</a:t>
                      </a:r>
                    </a:p>
                  </a:txBody>
                  <a:tcPr anchor="ctr">
                    <a:lnL>
                      <a:noFill/>
                    </a:lnL>
                    <a:lnR>
                      <a:noFill/>
                    </a:lnR>
                    <a:lnT>
                      <a:noFill/>
                    </a:lnT>
                    <a:lnB>
                      <a:noFill/>
                    </a:lnB>
                    <a:noFill/>
                  </a:tcPr>
                </a:tc>
                <a:tc>
                  <a:txBody>
                    <a:bodyPr/>
                    <a:lstStyle/>
                    <a:p>
                      <a:pPr algn="r">
                        <a:buNone/>
                      </a:pPr>
                      <a:r>
                        <a:rPr lang="en-US" dirty="0">
                          <a:solidFill>
                            <a:schemeClr val="bg1"/>
                          </a:solidFill>
                        </a:rPr>
                        <a:t>−28.97</a:t>
                      </a:r>
                    </a:p>
                  </a:txBody>
                  <a:tcPr anchor="ctr">
                    <a:lnL>
                      <a:noFill/>
                    </a:lnL>
                    <a:lnR>
                      <a:noFill/>
                    </a:lnR>
                    <a:lnT>
                      <a:noFill/>
                    </a:lnT>
                    <a:lnB>
                      <a:noFill/>
                    </a:lnB>
                    <a:noFill/>
                  </a:tcPr>
                </a:tc>
                <a:tc>
                  <a:txBody>
                    <a:bodyPr/>
                    <a:lstStyle/>
                    <a:p>
                      <a:pPr algn="r">
                        <a:buNone/>
                      </a:pPr>
                      <a:r>
                        <a:rPr lang="en-US" dirty="0">
                          <a:solidFill>
                            <a:schemeClr val="bg1"/>
                          </a:solidFill>
                        </a:rPr>
                        <a:t>1.72e6</a:t>
                      </a:r>
                    </a:p>
                  </a:txBody>
                  <a:tcPr anchor="ctr">
                    <a:lnL>
                      <a:noFill/>
                    </a:lnL>
                    <a:lnR>
                      <a:noFill/>
                    </a:lnR>
                    <a:lnT>
                      <a:noFill/>
                    </a:lnT>
                    <a:lnB>
                      <a:noFill/>
                    </a:lnB>
                    <a:noFill/>
                  </a:tcPr>
                </a:tc>
                <a:tc>
                  <a:txBody>
                    <a:bodyPr/>
                    <a:lstStyle/>
                    <a:p>
                      <a:pPr algn="r">
                        <a:buNone/>
                      </a:pPr>
                      <a:r>
                        <a:rPr lang="en-US" dirty="0">
                          <a:solidFill>
                            <a:schemeClr val="bg1"/>
                          </a:solidFill>
                        </a:rPr>
                        <a:t>0.000</a:t>
                      </a:r>
                    </a:p>
                  </a:txBody>
                  <a:tcPr anchor="ctr">
                    <a:lnL>
                      <a:noFill/>
                    </a:lnL>
                    <a:lnR>
                      <a:noFill/>
                    </a:lnR>
                    <a:lnT>
                      <a:noFill/>
                    </a:lnT>
                    <a:lnB>
                      <a:noFill/>
                    </a:lnB>
                    <a:noFill/>
                  </a:tcPr>
                </a:tc>
                <a:tc>
                  <a:txBody>
                    <a:bodyPr/>
                    <a:lstStyle/>
                    <a:p>
                      <a:pPr algn="r">
                        <a:buNone/>
                      </a:pPr>
                      <a:r>
                        <a:rPr lang="en-US" dirty="0">
                          <a:solidFill>
                            <a:schemeClr val="bg1"/>
                          </a:solidFill>
                        </a:rPr>
                        <a:t>1.0000</a:t>
                      </a:r>
                    </a:p>
                  </a:txBody>
                  <a:tcPr anchor="ctr">
                    <a:lnL>
                      <a:noFill/>
                    </a:lnL>
                    <a:lnR>
                      <a:noFill/>
                    </a:lnR>
                    <a:lnT>
                      <a:noFill/>
                    </a:lnT>
                    <a:lnB>
                      <a:noFill/>
                    </a:lnB>
                    <a:noFill/>
                  </a:tcPr>
                </a:tc>
                <a:extLst>
                  <a:ext uri="{0D108BD9-81ED-4DB2-BD59-A6C34878D82A}">
                    <a16:rowId xmlns:a16="http://schemas.microsoft.com/office/drawing/2014/main" val="3187866686"/>
                  </a:ext>
                </a:extLst>
              </a:tr>
              <a:tr h="558452">
                <a:tc>
                  <a:txBody>
                    <a:bodyPr/>
                    <a:lstStyle/>
                    <a:p>
                      <a:pPr>
                        <a:buNone/>
                      </a:pPr>
                      <a:r>
                        <a:rPr lang="en-US" dirty="0">
                          <a:solidFill>
                            <a:schemeClr val="bg1"/>
                          </a:solidFill>
                        </a:rPr>
                        <a:t>Condition (</a:t>
                      </a:r>
                      <a:r>
                        <a:rPr lang="en-US" dirty="0" err="1">
                          <a:solidFill>
                            <a:schemeClr val="bg1"/>
                          </a:solidFill>
                        </a:rPr>
                        <a:t>vc</a:t>
                      </a:r>
                      <a:r>
                        <a:rPr lang="en-US" dirty="0">
                          <a:solidFill>
                            <a:schemeClr val="bg1"/>
                          </a:solidFill>
                        </a:rPr>
                        <a:t>/md5)</a:t>
                      </a:r>
                    </a:p>
                  </a:txBody>
                  <a:tcPr anchor="ctr">
                    <a:lnL>
                      <a:noFill/>
                    </a:lnL>
                    <a:lnR>
                      <a:noFill/>
                    </a:lnR>
                    <a:lnT>
                      <a:noFill/>
                    </a:lnT>
                    <a:lnB>
                      <a:noFill/>
                    </a:lnB>
                    <a:noFill/>
                  </a:tcPr>
                </a:tc>
                <a:tc>
                  <a:txBody>
                    <a:bodyPr/>
                    <a:lstStyle/>
                    <a:p>
                      <a:pPr algn="r">
                        <a:buNone/>
                      </a:pPr>
                      <a:r>
                        <a:rPr lang="en-US" dirty="0">
                          <a:solidFill>
                            <a:schemeClr val="bg1"/>
                          </a:solidFill>
                        </a:rPr>
                        <a:t>−16.37</a:t>
                      </a:r>
                    </a:p>
                  </a:txBody>
                  <a:tcPr anchor="ctr">
                    <a:lnL>
                      <a:noFill/>
                    </a:lnL>
                    <a:lnR>
                      <a:noFill/>
                    </a:lnR>
                    <a:lnT>
                      <a:noFill/>
                    </a:lnT>
                    <a:lnB>
                      <a:noFill/>
                    </a:lnB>
                    <a:noFill/>
                  </a:tcPr>
                </a:tc>
                <a:tc>
                  <a:txBody>
                    <a:bodyPr/>
                    <a:lstStyle/>
                    <a:p>
                      <a:pPr algn="r">
                        <a:buNone/>
                      </a:pPr>
                      <a:r>
                        <a:rPr lang="en-US" dirty="0">
                          <a:solidFill>
                            <a:schemeClr val="bg1"/>
                          </a:solidFill>
                        </a:rPr>
                        <a:t>8,074</a:t>
                      </a:r>
                    </a:p>
                  </a:txBody>
                  <a:tcPr anchor="ctr">
                    <a:lnL>
                      <a:noFill/>
                    </a:lnL>
                    <a:lnR>
                      <a:noFill/>
                    </a:lnR>
                    <a:lnT>
                      <a:noFill/>
                    </a:lnT>
                    <a:lnB>
                      <a:noFill/>
                    </a:lnB>
                    <a:noFill/>
                  </a:tcPr>
                </a:tc>
                <a:tc>
                  <a:txBody>
                    <a:bodyPr/>
                    <a:lstStyle/>
                    <a:p>
                      <a:pPr algn="r">
                        <a:buNone/>
                      </a:pPr>
                      <a:r>
                        <a:rPr lang="en-US" dirty="0">
                          <a:solidFill>
                            <a:schemeClr val="bg1"/>
                          </a:solidFill>
                        </a:rPr>
                        <a:t>−0.002</a:t>
                      </a:r>
                    </a:p>
                  </a:txBody>
                  <a:tcPr anchor="ctr">
                    <a:lnL>
                      <a:noFill/>
                    </a:lnL>
                    <a:lnR>
                      <a:noFill/>
                    </a:lnR>
                    <a:lnT>
                      <a:noFill/>
                    </a:lnT>
                    <a:lnB>
                      <a:noFill/>
                    </a:lnB>
                    <a:noFill/>
                  </a:tcPr>
                </a:tc>
                <a:tc>
                  <a:txBody>
                    <a:bodyPr/>
                    <a:lstStyle/>
                    <a:p>
                      <a:pPr algn="r">
                        <a:buNone/>
                      </a:pPr>
                      <a:r>
                        <a:rPr lang="en-US" dirty="0">
                          <a:solidFill>
                            <a:schemeClr val="bg1"/>
                          </a:solidFill>
                        </a:rPr>
                        <a:t>0.9984</a:t>
                      </a:r>
                    </a:p>
                  </a:txBody>
                  <a:tcPr anchor="ctr">
                    <a:lnL>
                      <a:noFill/>
                    </a:lnL>
                    <a:lnR>
                      <a:noFill/>
                    </a:lnR>
                    <a:lnT>
                      <a:noFill/>
                    </a:lnT>
                    <a:lnB>
                      <a:noFill/>
                    </a:lnB>
                    <a:noFill/>
                  </a:tcPr>
                </a:tc>
                <a:extLst>
                  <a:ext uri="{0D108BD9-81ED-4DB2-BD59-A6C34878D82A}">
                    <a16:rowId xmlns:a16="http://schemas.microsoft.com/office/drawing/2014/main" val="1932134727"/>
                  </a:ext>
                </a:extLst>
              </a:tr>
              <a:tr h="516144">
                <a:tc>
                  <a:txBody>
                    <a:bodyPr/>
                    <a:lstStyle/>
                    <a:p>
                      <a:pPr>
                        <a:buNone/>
                      </a:pPr>
                      <a:r>
                        <a:rPr lang="en-US" dirty="0">
                          <a:solidFill>
                            <a:schemeClr val="bg1"/>
                          </a:solidFill>
                        </a:rPr>
                        <a:t>Condition (</a:t>
                      </a:r>
                      <a:r>
                        <a:rPr lang="en-US" dirty="0" err="1">
                          <a:solidFill>
                            <a:schemeClr val="bg1"/>
                          </a:solidFill>
                        </a:rPr>
                        <a:t>vo</a:t>
                      </a:r>
                      <a:r>
                        <a:rPr lang="en-US" dirty="0">
                          <a:solidFill>
                            <a:schemeClr val="bg1"/>
                          </a:solidFill>
                        </a:rPr>
                        <a:t>)</a:t>
                      </a:r>
                    </a:p>
                  </a:txBody>
                  <a:tcPr anchor="ctr">
                    <a:lnL>
                      <a:noFill/>
                    </a:lnL>
                    <a:lnR>
                      <a:noFill/>
                    </a:lnR>
                    <a:lnT>
                      <a:noFill/>
                    </a:lnT>
                    <a:lnB>
                      <a:noFill/>
                    </a:lnB>
                    <a:noFill/>
                  </a:tcPr>
                </a:tc>
                <a:tc>
                  <a:txBody>
                    <a:bodyPr/>
                    <a:lstStyle/>
                    <a:p>
                      <a:pPr algn="r">
                        <a:buNone/>
                      </a:pPr>
                      <a:r>
                        <a:rPr lang="en-US" dirty="0">
                          <a:solidFill>
                            <a:schemeClr val="bg1"/>
                          </a:solidFill>
                        </a:rPr>
                        <a:t>0.134</a:t>
                      </a:r>
                    </a:p>
                  </a:txBody>
                  <a:tcPr anchor="ctr">
                    <a:lnL>
                      <a:noFill/>
                    </a:lnL>
                    <a:lnR>
                      <a:noFill/>
                    </a:lnR>
                    <a:lnT>
                      <a:noFill/>
                    </a:lnT>
                    <a:lnB>
                      <a:noFill/>
                    </a:lnB>
                    <a:noFill/>
                  </a:tcPr>
                </a:tc>
                <a:tc>
                  <a:txBody>
                    <a:bodyPr/>
                    <a:lstStyle/>
                    <a:p>
                      <a:pPr algn="r">
                        <a:buNone/>
                      </a:pPr>
                      <a:r>
                        <a:rPr lang="en-US" dirty="0">
                          <a:solidFill>
                            <a:schemeClr val="bg1"/>
                          </a:solidFill>
                        </a:rPr>
                        <a:t>1.336</a:t>
                      </a:r>
                    </a:p>
                  </a:txBody>
                  <a:tcPr anchor="ctr">
                    <a:lnL>
                      <a:noFill/>
                    </a:lnL>
                    <a:lnR>
                      <a:noFill/>
                    </a:lnR>
                    <a:lnT>
                      <a:noFill/>
                    </a:lnT>
                    <a:lnB>
                      <a:noFill/>
                    </a:lnB>
                    <a:noFill/>
                  </a:tcPr>
                </a:tc>
                <a:tc>
                  <a:txBody>
                    <a:bodyPr/>
                    <a:lstStyle/>
                    <a:p>
                      <a:pPr algn="r">
                        <a:buNone/>
                      </a:pPr>
                      <a:r>
                        <a:rPr lang="en-US" dirty="0">
                          <a:solidFill>
                            <a:schemeClr val="bg1"/>
                          </a:solidFill>
                        </a:rPr>
                        <a:t>0.101</a:t>
                      </a:r>
                    </a:p>
                  </a:txBody>
                  <a:tcPr anchor="ctr">
                    <a:lnL>
                      <a:noFill/>
                    </a:lnL>
                    <a:lnR>
                      <a:noFill/>
                    </a:lnR>
                    <a:lnT>
                      <a:noFill/>
                    </a:lnT>
                    <a:lnB>
                      <a:noFill/>
                    </a:lnB>
                    <a:noFill/>
                  </a:tcPr>
                </a:tc>
                <a:tc>
                  <a:txBody>
                    <a:bodyPr/>
                    <a:lstStyle/>
                    <a:p>
                      <a:pPr algn="r">
                        <a:buNone/>
                      </a:pPr>
                      <a:r>
                        <a:rPr lang="en-US" dirty="0">
                          <a:solidFill>
                            <a:schemeClr val="bg1"/>
                          </a:solidFill>
                        </a:rPr>
                        <a:t>0.9199</a:t>
                      </a:r>
                    </a:p>
                  </a:txBody>
                  <a:tcPr anchor="ctr">
                    <a:lnL>
                      <a:noFill/>
                    </a:lnL>
                    <a:lnR>
                      <a:noFill/>
                    </a:lnR>
                    <a:lnT>
                      <a:noFill/>
                    </a:lnT>
                    <a:lnB>
                      <a:noFill/>
                    </a:lnB>
                    <a:noFill/>
                  </a:tcPr>
                </a:tc>
                <a:extLst>
                  <a:ext uri="{0D108BD9-81ED-4DB2-BD59-A6C34878D82A}">
                    <a16:rowId xmlns:a16="http://schemas.microsoft.com/office/drawing/2014/main" val="967939217"/>
                  </a:ext>
                </a:extLst>
              </a:tr>
              <a:tr h="558452">
                <a:tc>
                  <a:txBody>
                    <a:bodyPr/>
                    <a:lstStyle/>
                    <a:p>
                      <a:pPr>
                        <a:buNone/>
                      </a:pPr>
                      <a:r>
                        <a:rPr lang="en-US" dirty="0">
                          <a:solidFill>
                            <a:schemeClr val="bg1"/>
                          </a:solidFill>
                        </a:rPr>
                        <a:t>Condition (</a:t>
                      </a:r>
                      <a:r>
                        <a:rPr lang="en-US" dirty="0" err="1">
                          <a:solidFill>
                            <a:schemeClr val="bg1"/>
                          </a:solidFill>
                        </a:rPr>
                        <a:t>vo</a:t>
                      </a:r>
                      <a:r>
                        <a:rPr lang="en-US" dirty="0">
                          <a:solidFill>
                            <a:schemeClr val="bg1"/>
                          </a:solidFill>
                        </a:rPr>
                        <a:t>/md4)</a:t>
                      </a:r>
                    </a:p>
                  </a:txBody>
                  <a:tcPr anchor="ctr">
                    <a:lnL>
                      <a:noFill/>
                    </a:lnL>
                    <a:lnR>
                      <a:noFill/>
                    </a:lnR>
                    <a:lnT>
                      <a:noFill/>
                    </a:lnT>
                    <a:lnB>
                      <a:noFill/>
                    </a:lnB>
                    <a:noFill/>
                  </a:tcPr>
                </a:tc>
                <a:tc>
                  <a:txBody>
                    <a:bodyPr/>
                    <a:lstStyle/>
                    <a:p>
                      <a:pPr algn="r">
                        <a:buNone/>
                      </a:pPr>
                      <a:r>
                        <a:rPr lang="en-US" dirty="0">
                          <a:solidFill>
                            <a:schemeClr val="bg1"/>
                          </a:solidFill>
                        </a:rPr>
                        <a:t>0.865</a:t>
                      </a:r>
                    </a:p>
                  </a:txBody>
                  <a:tcPr anchor="ctr">
                    <a:lnL>
                      <a:noFill/>
                    </a:lnL>
                    <a:lnR>
                      <a:noFill/>
                    </a:lnR>
                    <a:lnT>
                      <a:noFill/>
                    </a:lnT>
                    <a:lnB>
                      <a:noFill/>
                    </a:lnB>
                    <a:noFill/>
                  </a:tcPr>
                </a:tc>
                <a:tc>
                  <a:txBody>
                    <a:bodyPr/>
                    <a:lstStyle/>
                    <a:p>
                      <a:pPr algn="r">
                        <a:buNone/>
                      </a:pPr>
                      <a:r>
                        <a:rPr lang="en-US" dirty="0">
                          <a:solidFill>
                            <a:schemeClr val="bg1"/>
                          </a:solidFill>
                        </a:rPr>
                        <a:t>1.470</a:t>
                      </a:r>
                    </a:p>
                  </a:txBody>
                  <a:tcPr anchor="ctr">
                    <a:lnL>
                      <a:noFill/>
                    </a:lnL>
                    <a:lnR>
                      <a:noFill/>
                    </a:lnR>
                    <a:lnT>
                      <a:noFill/>
                    </a:lnT>
                    <a:lnB>
                      <a:noFill/>
                    </a:lnB>
                    <a:noFill/>
                  </a:tcPr>
                </a:tc>
                <a:tc>
                  <a:txBody>
                    <a:bodyPr/>
                    <a:lstStyle/>
                    <a:p>
                      <a:pPr algn="r">
                        <a:buNone/>
                      </a:pPr>
                      <a:r>
                        <a:rPr lang="en-US" dirty="0">
                          <a:solidFill>
                            <a:schemeClr val="bg1"/>
                          </a:solidFill>
                        </a:rPr>
                        <a:t>0.588</a:t>
                      </a:r>
                    </a:p>
                  </a:txBody>
                  <a:tcPr anchor="ctr">
                    <a:lnL>
                      <a:noFill/>
                    </a:lnL>
                    <a:lnR>
                      <a:noFill/>
                    </a:lnR>
                    <a:lnT>
                      <a:noFill/>
                    </a:lnT>
                    <a:lnB>
                      <a:noFill/>
                    </a:lnB>
                    <a:noFill/>
                  </a:tcPr>
                </a:tc>
                <a:tc>
                  <a:txBody>
                    <a:bodyPr/>
                    <a:lstStyle/>
                    <a:p>
                      <a:pPr algn="r">
                        <a:buNone/>
                      </a:pPr>
                      <a:r>
                        <a:rPr lang="en-US" dirty="0">
                          <a:solidFill>
                            <a:schemeClr val="bg1"/>
                          </a:solidFill>
                        </a:rPr>
                        <a:t>0.5564</a:t>
                      </a:r>
                    </a:p>
                  </a:txBody>
                  <a:tcPr anchor="ctr">
                    <a:lnL>
                      <a:noFill/>
                    </a:lnL>
                    <a:lnR>
                      <a:noFill/>
                    </a:lnR>
                    <a:lnT>
                      <a:noFill/>
                    </a:lnT>
                    <a:lnB>
                      <a:noFill/>
                    </a:lnB>
                    <a:noFill/>
                  </a:tcPr>
                </a:tc>
                <a:extLst>
                  <a:ext uri="{0D108BD9-81ED-4DB2-BD59-A6C34878D82A}">
                    <a16:rowId xmlns:a16="http://schemas.microsoft.com/office/drawing/2014/main" val="1163729814"/>
                  </a:ext>
                </a:extLst>
              </a:tr>
              <a:tr h="558452">
                <a:tc>
                  <a:txBody>
                    <a:bodyPr/>
                    <a:lstStyle/>
                    <a:p>
                      <a:pPr>
                        <a:buNone/>
                      </a:pPr>
                      <a:r>
                        <a:rPr lang="en-US" dirty="0">
                          <a:solidFill>
                            <a:schemeClr val="bg1"/>
                          </a:solidFill>
                        </a:rPr>
                        <a:t>Condition (</a:t>
                      </a:r>
                      <a:r>
                        <a:rPr lang="en-US" dirty="0" err="1">
                          <a:solidFill>
                            <a:schemeClr val="bg1"/>
                          </a:solidFill>
                        </a:rPr>
                        <a:t>vo</a:t>
                      </a:r>
                      <a:r>
                        <a:rPr lang="en-US" dirty="0">
                          <a:solidFill>
                            <a:schemeClr val="bg1"/>
                          </a:solidFill>
                        </a:rPr>
                        <a:t>/md6)</a:t>
                      </a:r>
                    </a:p>
                  </a:txBody>
                  <a:tcPr anchor="ctr">
                    <a:lnL>
                      <a:noFill/>
                    </a:lnL>
                    <a:lnR>
                      <a:noFill/>
                    </a:lnR>
                    <a:lnT>
                      <a:noFill/>
                    </a:lnT>
                    <a:lnB>
                      <a:noFill/>
                    </a:lnB>
                    <a:noFill/>
                  </a:tcPr>
                </a:tc>
                <a:tc>
                  <a:txBody>
                    <a:bodyPr/>
                    <a:lstStyle/>
                    <a:p>
                      <a:pPr algn="r">
                        <a:buNone/>
                      </a:pPr>
                      <a:r>
                        <a:rPr lang="en-US" dirty="0">
                          <a:solidFill>
                            <a:schemeClr val="bg1"/>
                          </a:solidFill>
                        </a:rPr>
                        <a:t>−20.61</a:t>
                      </a:r>
                    </a:p>
                  </a:txBody>
                  <a:tcPr anchor="ctr">
                    <a:lnL>
                      <a:noFill/>
                    </a:lnL>
                    <a:lnR>
                      <a:noFill/>
                    </a:lnR>
                    <a:lnT>
                      <a:noFill/>
                    </a:lnT>
                    <a:lnB>
                      <a:noFill/>
                    </a:lnB>
                    <a:noFill/>
                  </a:tcPr>
                </a:tc>
                <a:tc>
                  <a:txBody>
                    <a:bodyPr/>
                    <a:lstStyle/>
                    <a:p>
                      <a:pPr algn="r">
                        <a:buNone/>
                      </a:pPr>
                      <a:r>
                        <a:rPr lang="en-US" dirty="0">
                          <a:solidFill>
                            <a:schemeClr val="bg1"/>
                          </a:solidFill>
                        </a:rPr>
                        <a:t>47,520</a:t>
                      </a:r>
                    </a:p>
                  </a:txBody>
                  <a:tcPr anchor="ctr">
                    <a:lnL>
                      <a:noFill/>
                    </a:lnL>
                    <a:lnR>
                      <a:noFill/>
                    </a:lnR>
                    <a:lnT>
                      <a:noFill/>
                    </a:lnT>
                    <a:lnB>
                      <a:noFill/>
                    </a:lnB>
                    <a:noFill/>
                  </a:tcPr>
                </a:tc>
                <a:tc>
                  <a:txBody>
                    <a:bodyPr/>
                    <a:lstStyle/>
                    <a:p>
                      <a:pPr algn="r">
                        <a:buNone/>
                      </a:pPr>
                      <a:r>
                        <a:rPr lang="en-US" dirty="0">
                          <a:solidFill>
                            <a:schemeClr val="bg1"/>
                          </a:solidFill>
                        </a:rPr>
                        <a:t>0.000</a:t>
                      </a:r>
                    </a:p>
                  </a:txBody>
                  <a:tcPr anchor="ctr">
                    <a:lnL>
                      <a:noFill/>
                    </a:lnL>
                    <a:lnR>
                      <a:noFill/>
                    </a:lnR>
                    <a:lnT>
                      <a:noFill/>
                    </a:lnT>
                    <a:lnB>
                      <a:noFill/>
                    </a:lnB>
                    <a:noFill/>
                  </a:tcPr>
                </a:tc>
                <a:tc>
                  <a:txBody>
                    <a:bodyPr/>
                    <a:lstStyle/>
                    <a:p>
                      <a:pPr algn="r">
                        <a:buNone/>
                      </a:pPr>
                      <a:r>
                        <a:rPr lang="en-US" dirty="0">
                          <a:solidFill>
                            <a:schemeClr val="bg1"/>
                          </a:solidFill>
                        </a:rPr>
                        <a:t>0.9997</a:t>
                      </a:r>
                    </a:p>
                  </a:txBody>
                  <a:tcPr anchor="ctr">
                    <a:lnL>
                      <a:noFill/>
                    </a:lnL>
                    <a:lnR>
                      <a:noFill/>
                    </a:lnR>
                    <a:lnT>
                      <a:noFill/>
                    </a:lnT>
                    <a:lnB>
                      <a:noFill/>
                    </a:lnB>
                    <a:noFill/>
                  </a:tcPr>
                </a:tc>
                <a:extLst>
                  <a:ext uri="{0D108BD9-81ED-4DB2-BD59-A6C34878D82A}">
                    <a16:rowId xmlns:a16="http://schemas.microsoft.com/office/drawing/2014/main" val="1519008262"/>
                  </a:ext>
                </a:extLst>
              </a:tr>
            </a:tbl>
          </a:graphicData>
        </a:graphic>
      </p:graphicFrame>
      <p:sp>
        <p:nvSpPr>
          <p:cNvPr id="5" name="TextBox 4">
            <a:extLst>
              <a:ext uri="{FF2B5EF4-FFF2-40B4-BE49-F238E27FC236}">
                <a16:creationId xmlns:a16="http://schemas.microsoft.com/office/drawing/2014/main" id="{F0170E67-8776-92C0-3AFA-4D15D1205B57}"/>
              </a:ext>
            </a:extLst>
          </p:cNvPr>
          <p:cNvSpPr txBox="1"/>
          <p:nvPr/>
        </p:nvSpPr>
        <p:spPr>
          <a:xfrm>
            <a:off x="247879" y="334152"/>
            <a:ext cx="4018767"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Zero-Inflation Model</a:t>
            </a:r>
          </a:p>
          <a:p>
            <a:pPr marL="285750" indent="-285750">
              <a:buFont typeface="Arial"/>
              <a:buChar char="•"/>
            </a:pPr>
            <a:r>
              <a:rPr lang="en-US" dirty="0">
                <a:solidFill>
                  <a:schemeClr val="bg1"/>
                </a:solidFill>
              </a:rPr>
              <a:t>This was the second part of my double hurdle model</a:t>
            </a:r>
          </a:p>
          <a:p>
            <a:pPr marL="285750" indent="-285750">
              <a:buFont typeface="Arial"/>
              <a:buChar char="•"/>
            </a:pPr>
            <a:endParaRPr lang="en-US" dirty="0">
              <a:solidFill>
                <a:schemeClr val="bg1"/>
              </a:solidFill>
            </a:endParaRPr>
          </a:p>
          <a:p>
            <a:pPr marL="285750" indent="-285750">
              <a:buFont typeface="Arial"/>
              <a:buChar char="•"/>
            </a:pPr>
            <a:r>
              <a:rPr lang="en-US" dirty="0">
                <a:solidFill>
                  <a:schemeClr val="bg1"/>
                </a:solidFill>
              </a:rPr>
              <a:t>This type of model worked much better than the conditional model and that is because this type of model accounts for the zeros and is able to incorporate them well into the analysis</a:t>
            </a:r>
          </a:p>
          <a:p>
            <a:pPr marL="285750" indent="-285750">
              <a:buFont typeface="Arial"/>
              <a:buChar char="•"/>
            </a:pPr>
            <a:endParaRPr lang="en-US" dirty="0">
              <a:solidFill>
                <a:schemeClr val="bg1"/>
              </a:solidFill>
            </a:endParaRPr>
          </a:p>
          <a:p>
            <a:pPr marL="285750" indent="-285750">
              <a:buFont typeface="Arial"/>
              <a:buChar char="•"/>
            </a:pPr>
            <a:r>
              <a:rPr lang="en-US" dirty="0">
                <a:solidFill>
                  <a:schemeClr val="bg1"/>
                </a:solidFill>
              </a:rPr>
              <a:t>This is because zero-inflation models assume that the data has two parts, one with structural zeros and one with positive counts.</a:t>
            </a:r>
          </a:p>
          <a:p>
            <a:pPr marL="285750" indent="-285750">
              <a:buFont typeface="Arial"/>
              <a:buChar char="•"/>
            </a:pPr>
            <a:endParaRPr lang="en-US" dirty="0">
              <a:solidFill>
                <a:schemeClr val="bg1"/>
              </a:solidFill>
            </a:endParaRPr>
          </a:p>
          <a:p>
            <a:pPr marL="285750" indent="-285750">
              <a:buFont typeface="Arial"/>
              <a:buChar char="•"/>
            </a:pPr>
            <a:r>
              <a:rPr lang="en-US" dirty="0">
                <a:solidFill>
                  <a:schemeClr val="bg1"/>
                </a:solidFill>
              </a:rPr>
              <a:t>Although the data was able to be analyzed better in this model there are still no significant relationships between the predictors and recaptures as all p-values are above 0.05</a:t>
            </a:r>
          </a:p>
        </p:txBody>
      </p:sp>
    </p:spTree>
    <p:extLst>
      <p:ext uri="{BB962C8B-B14F-4D97-AF65-F5344CB8AC3E}">
        <p14:creationId xmlns:p14="http://schemas.microsoft.com/office/powerpoint/2010/main" val="16254167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133</cp:revision>
  <dcterms:created xsi:type="dcterms:W3CDTF">2025-12-08T15:52:43Z</dcterms:created>
  <dcterms:modified xsi:type="dcterms:W3CDTF">2025-12-08T16:22:26Z</dcterms:modified>
</cp:coreProperties>
</file>